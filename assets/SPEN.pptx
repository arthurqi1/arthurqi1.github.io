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3" r:id="rId3"/>
    <p:sldId id="284" r:id="rId4"/>
    <p:sldId id="291" r:id="rId5"/>
    <p:sldId id="292" r:id="rId6"/>
    <p:sldId id="293" r:id="rId7"/>
    <p:sldId id="294" r:id="rId8"/>
    <p:sldId id="295" r:id="rId9"/>
    <p:sldId id="296" r:id="rId10"/>
    <p:sldId id="298" r:id="rId11"/>
    <p:sldId id="299" r:id="rId12"/>
    <p:sldId id="303" r:id="rId13"/>
    <p:sldId id="304" r:id="rId14"/>
    <p:sldId id="305" r:id="rId15"/>
    <p:sldId id="306" r:id="rId16"/>
    <p:sldId id="307" r:id="rId17"/>
    <p:sldId id="308" r:id="rId18"/>
    <p:sldId id="30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54" d="100"/>
          <a:sy n="54" d="100"/>
        </p:scale>
        <p:origin x="96" y="24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72948-9566-4F0A-879D-FEBF43CB1235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A52AA-062D-4D56-9007-98E373FE71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338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A52AA-062D-4D56-9007-98E373FE71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131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A52AA-062D-4D56-9007-98E373FE718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915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A59E9-33CA-4884-177F-24406B7C7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E9BF52-E7DB-1170-B922-362C67972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B33E94-B71C-5826-0E9F-CDF6D5E11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12D56D-458F-9FC2-CDBB-14175A4C7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A52AA-062D-4D56-9007-98E373FE718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873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43030-F3EE-5CD4-3815-8BE727D0D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FEC6CC-54E0-3EF2-F437-87CD2D591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6EBA7F-3EAB-625D-856E-A79CD53CC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0A27BC-1E8B-4A33-5B56-6579C2E47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A52AA-062D-4D56-9007-98E373FE718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223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DC601-5E78-B557-EAE2-7B4928DD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9D27C8-8B1C-E103-320B-F72ECD964F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902DDB-92D1-2018-FA4D-A51779DF4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BF2D57-6992-B647-CFC7-FE9C1D0C9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A52AA-062D-4D56-9007-98E373FE718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643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6571F-AFBC-281A-9486-0944A9306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032D60-A64B-972D-5F63-2D6707C8A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F1C9CB-6023-FAF4-3EF2-2A0C35E9F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7B1405-D055-42D9-3FFE-EAC4CE1E6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A52AA-062D-4D56-9007-98E373FE718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867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F5CC8-7B5C-FF2A-FCB8-C40D6D5C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CFB2C2-8FA6-E6C8-7862-8923B6BFF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0E9793-8C8E-001D-29F0-EE182BD11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9CD8C7-9298-7A90-2F96-8241AE37A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A52AA-062D-4D56-9007-98E373FE718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387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5848D-C705-685E-C9CA-C99A2CDD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2E015F-B790-90B0-6CEE-05AE90B8F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F35017-4142-F2D9-4563-BFBD9329E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F3ECA6-5597-7919-04BB-09A6E9EE7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A52AA-062D-4D56-9007-98E373FE718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229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9F29-0D27-7534-A808-FBD0A53A1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288396-D9A5-8B2D-4485-D108FC31F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118714-7518-DBA9-5DD7-DA445CC9B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A1F71C-5D5B-C523-F9A7-4951406DA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A52AA-062D-4D56-9007-98E373FE718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726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8465C-3275-7AF2-CDC5-CFC1B11EB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33D064-F0BC-8414-DBFD-A970C7CD3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1CC43B-E50D-383C-20B9-3DB155480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E5F568-B73F-DEFA-25A7-9DF9D344E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A52AA-062D-4D56-9007-98E373FE718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348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AF401-84EF-8D3F-2C42-2D8B561DC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FAD9A9-68F0-A38C-FD5A-1142CE957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757C0D-01E5-592F-A75A-1262E6ECE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9EEDED-666A-4EF0-6B5B-BF91696A0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A52AA-062D-4D56-9007-98E373FE718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316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91BB3-0B9B-FA26-9B6D-3E9EEC348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0EFAB6-4530-ED9E-2B3D-9AE5DAA3F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4EA61B-DE3E-AF2E-B1E1-26B0A53EA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CF2A-7DCF-45AE-9D05-ED70ED7F524F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8DCE96-7E50-6FCC-5C53-67B7B66E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C68407-6157-10FE-9959-E6069065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99BD-12D0-4694-AA17-8C59685A9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1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7A4F9-ABB1-E5CD-F8B1-EFBB108B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270D5-EBBD-8910-EC43-E0ACE8612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1E674F-1501-A448-AC14-2E226DCC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CF2A-7DCF-45AE-9D05-ED70ED7F524F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988AE-E649-5DAF-73E2-CF898C0B1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B31A3B-51B9-8D06-15D9-4EDA1F109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99BD-12D0-4694-AA17-8C59685A9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347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2975D-D3C9-A383-066F-CC6BFE681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73F23D-7411-2B7E-B351-F68FAF359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12BC26-146F-DE79-B50D-25A0782C7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CF2A-7DCF-45AE-9D05-ED70ED7F524F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074249-BB77-3A5B-375B-D8DF68F7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788840-084B-CF56-7C73-AFD55261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99BD-12D0-4694-AA17-8C59685A9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96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1A446D-A30F-4067-9BC8-FF2E04AC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C86128-5CCA-0135-EBA0-AE8F7DCCA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5807EE-E87F-A6DD-A27D-4FB2A257C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E3F392-EA61-5066-E3B2-7FA97E165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CF2A-7DCF-45AE-9D05-ED70ED7F524F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2A0119-75DC-335E-9E8C-929E6C5D0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4709E9-618D-FF4F-C1CF-65156E8A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99BD-12D0-4694-AA17-8C59685A9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819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839130-BD81-79BA-A763-91F0ADE7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E79A26-E374-FF28-3AF6-9F16D4420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B0D48E-8BB1-D060-8939-EDDFB3769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C98837-AEE1-F06C-5A0E-15DFAD87B2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9DC5D6-64C0-16A8-F511-A37BAE4D7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727C18-9603-8F1D-9E9E-5D459325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CF2A-7DCF-45AE-9D05-ED70ED7F524F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686D84-F83F-9C91-1E9F-4E2D7359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6343B59-5C9B-4176-6856-9A483DDBF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99BD-12D0-4694-AA17-8C59685A9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66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E8CC5-7D25-0104-0980-EAE8192A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40C989-919C-C5FF-52A5-0FFCF7C7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CF2A-7DCF-45AE-9D05-ED70ED7F524F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15C889-4F2B-A254-1202-5BCBFC62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129B31-D495-45F6-C310-58A6B539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99BD-12D0-4694-AA17-8C59685A9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452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4EDA25-6C7A-D82E-986D-8A5EF365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CF2A-7DCF-45AE-9D05-ED70ED7F524F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C000EE-59DF-191B-59AE-0F6809059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56E568-BF44-D0C4-AA97-801CFB63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99BD-12D0-4694-AA17-8C59685A9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601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7AE53-09C9-D9BA-8EC6-3E1C9839B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3686AB-1226-6D1C-ECF0-CB72DD49D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E2FA8D-F46D-B927-2574-A5BFEB1F5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1157FC-3B0F-5CFD-5978-AA48DDE92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CF2A-7DCF-45AE-9D05-ED70ED7F524F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2375A3-7843-957F-8824-E7F9796B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941833-E28A-1CDC-A127-BD1EE09B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99BD-12D0-4694-AA17-8C59685A9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268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A429A-6E13-A5D1-922D-C35537956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BAD14D-6039-05B6-7CA7-9AB69313F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158628-D4CB-F026-573F-17826448A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B0955F-B026-E2CD-316A-92D42A2E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CF2A-7DCF-45AE-9D05-ED70ED7F524F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AB2842-03BA-3F76-F693-0D684E88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9A4C53-B9B3-A87B-B3FE-90D81B5E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99BD-12D0-4694-AA17-8C59685A9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020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02374-BC6B-B24B-9505-28A9734F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934FD6-B3AC-76B3-2769-001A9285B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627BE4-1C8C-5813-1AD5-12F3888E7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CF2A-7DCF-45AE-9D05-ED70ED7F524F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F0D2EA-3140-036D-CC20-157FA88C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7EB0C9-DDBA-59C5-7A96-5472001BB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99BD-12D0-4694-AA17-8C59685A9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00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D52CEB-00E7-F974-C019-DA6DB1042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1EA9B6-D24F-4EAA-13CF-AF5E0AF89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97BC13-DAC9-C053-7395-3491554D8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CF2A-7DCF-45AE-9D05-ED70ED7F524F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BE879F-F43B-BB41-BE0D-D2966DE5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9E49E5-D0BD-5CDD-5620-A511F2A9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99BD-12D0-4694-AA17-8C59685A9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61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14BAD92-5873-1455-2BC0-3FCBB958A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DE9C6D-2BF1-762A-8970-07611A673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291481-6027-7E62-DA13-3117D2D6A8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FCF2A-7DCF-45AE-9D05-ED70ED7F524F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305CAD-FDC8-C71F-AAA2-34D184AA7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1F0502-A41A-619B-92F4-7FB66521B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E99BD-12D0-4694-AA17-8C59685A9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539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CE36C2B0-2EBE-6AFC-4668-0A06DDDC8D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487" cy="6858000"/>
          </a:xfrm>
          <a:prstGeom prst="rect">
            <a:avLst/>
          </a:prstGeom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6AC12913-EB37-2EE7-E43C-C7D8B5E2A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027" y="4611006"/>
            <a:ext cx="10161182" cy="1883166"/>
          </a:xfrm>
        </p:spPr>
        <p:txBody>
          <a:bodyPr>
            <a:normAutofit/>
          </a:bodyPr>
          <a:lstStyle/>
          <a:p>
            <a:pPr algn="l"/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Yue Qi</a:t>
            </a:r>
          </a:p>
          <a:p>
            <a:pPr algn="l"/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Third Year Ph.D. </a:t>
            </a:r>
            <a:r>
              <a:rPr lang="en-GB" sz="18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Stuent</a:t>
            </a:r>
            <a:endParaRPr lang="en-GB" sz="1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800" b="1" noProof="0" dirty="0">
                <a:latin typeface="Arial" panose="020B0604020202020204" pitchFamily="34" charset="0"/>
                <a:cs typeface="Arial" panose="020B0604020202020204" pitchFamily="34" charset="0"/>
              </a:rPr>
              <a:t>Supervisor: </a:t>
            </a:r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Prof. Jin Yang</a:t>
            </a:r>
          </a:p>
          <a:p>
            <a:pPr algn="l"/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James Watt School of Engineering</a:t>
            </a:r>
          </a:p>
          <a:p>
            <a:pPr algn="l"/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University of Glasgow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D30305-6367-0CCF-EFDE-9475C9BF9EEB}"/>
              </a:ext>
            </a:extLst>
          </p:cNvPr>
          <p:cNvSpPr txBox="1"/>
          <p:nvPr/>
        </p:nvSpPr>
        <p:spPr>
          <a:xfrm>
            <a:off x="1015408" y="2495316"/>
            <a:ext cx="101611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sz="3200" b="1" dirty="0">
                <a:solidFill>
                  <a:srgbClr val="004165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Research Evolution and Integrated Framework for </a:t>
            </a:r>
            <a:r>
              <a:rPr lang="en-GB" altLang="zh-CN" sz="3200" b="1" dirty="0">
                <a:solidFill>
                  <a:srgbClr val="004165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 Forecast-Driven Multi-Objective Optimisation Framework for Multi-Energy Systems</a:t>
            </a:r>
            <a:endParaRPr lang="zh-CN" altLang="en-US" sz="3200" b="1" dirty="0">
              <a:solidFill>
                <a:srgbClr val="004165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12" name="Picture 10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6357F2D2-CA0D-72B3-A9EC-06C6D9B498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258" y="1035690"/>
            <a:ext cx="1195440" cy="1080000"/>
          </a:xfrm>
          <a:prstGeom prst="rect">
            <a:avLst/>
          </a:prstGeom>
        </p:spPr>
      </p:pic>
      <p:pic>
        <p:nvPicPr>
          <p:cNvPr id="13" name="Picture 1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918B0AC1-990D-68DE-DD85-1C60D719F7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001" y="1215690"/>
            <a:ext cx="1578948" cy="900000"/>
          </a:xfrm>
          <a:prstGeom prst="rect">
            <a:avLst/>
          </a:prstGeom>
        </p:spPr>
      </p:pic>
      <p:pic>
        <p:nvPicPr>
          <p:cNvPr id="14" name="图片 13" descr="徽标, 公司名称&#10;&#10;AI 生成的内容可能不正确。">
            <a:extLst>
              <a:ext uri="{FF2B5EF4-FFF2-40B4-BE49-F238E27FC236}">
                <a16:creationId xmlns:a16="http://schemas.microsoft.com/office/drawing/2014/main" id="{7797BE99-3BFF-BB7F-8395-8F65E7E037C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042" t="32783" r="10799" b="33813"/>
          <a:stretch>
            <a:fillRect/>
          </a:stretch>
        </p:blipFill>
        <p:spPr>
          <a:xfrm>
            <a:off x="8864258" y="157845"/>
            <a:ext cx="3023691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3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E9FCD-F232-8DAB-FBE7-6AA1AC19E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3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 Research Focus: V2G Flexibility for Active Distribution Networks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E98748-5BD2-0AB6-BA6C-42155A53D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1115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original PhD proposal focused on coordinating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Active Distribution Networks (ADNs)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Vehicle-to-Grid (V2G)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resources. As electric vehicles increase electricity demand and create new network constraints, V2G offers a way to transform EVs from passive loads into distributed flexibility resources.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initial aim was to model EV user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forecast the temporal and spatial availability of V2G capacity, and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optimise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ADN operation to accommodate higher EV/V2G penetration without excessive network reinforcement.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How can EV/V2G flexibility be modelled and coordinated to support low-carbon, cost-effective, and flexible distribution network operation?</a:t>
            </a:r>
          </a:p>
        </p:txBody>
      </p:sp>
    </p:spTree>
    <p:extLst>
      <p:ext uri="{BB962C8B-B14F-4D97-AF65-F5344CB8AC3E}">
        <p14:creationId xmlns:p14="http://schemas.microsoft.com/office/powerpoint/2010/main" val="3964214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27A79-3F4C-F0F0-468D-8850AB82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A52E00-0C31-3599-E223-550E5684D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74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Insight: V2G as a System-Dependent Flexibility Resource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42E593-A15E-B438-EF70-1F8015332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888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V2G operation cannot be determined by EV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alone. Its value and feasibility depend on wider system conditions, including local demand, renewable generation, electricity prices, carbon signals, network constraints, and user requirements.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This means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V2G is not an isolated transport–grid interface problem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but a time-coupled and uncertain flexibility resource embedded within a broader energy system.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Research transition: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From V2G-specific ADN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Multi-energy system level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flexibility coordination and system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144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2D40B-7F9B-67FD-1379-F3D79B14C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81350A-69B4-1FC7-73F0-5BC5C4A4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29"/>
            <a:ext cx="10515600" cy="1325563"/>
          </a:xfrm>
        </p:spPr>
        <p:txBody>
          <a:bodyPr>
            <a:normAutofit/>
          </a:bodyPr>
          <a:lstStyle/>
          <a:p>
            <a:r>
              <a:rPr lang="en-GB" sz="2800" b="1" noProof="0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Integrated Research Framework: From V2G to Forecast-Driven MES Optimisation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CF25AF-6C13-E671-098E-442F69EEA3AB}"/>
              </a:ext>
            </a:extLst>
          </p:cNvPr>
          <p:cNvSpPr txBox="1"/>
          <p:nvPr/>
        </p:nvSpPr>
        <p:spPr>
          <a:xfrm>
            <a:off x="1062653" y="5841539"/>
            <a:ext cx="100666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600" noProof="0" dirty="0">
                <a:latin typeface="Arial" panose="020B0604020202020204" pitchFamily="34" charset="0"/>
                <a:cs typeface="Arial" panose="020B0604020202020204" pitchFamily="34" charset="0"/>
              </a:rPr>
              <a:t>The recent research is not a change of topic, but a progressive expansion of the same core problem: </a:t>
            </a:r>
            <a:r>
              <a:rPr lang="en-GB" sz="1600" b="1" noProof="0" dirty="0">
                <a:latin typeface="Arial" panose="020B0604020202020204" pitchFamily="34" charset="0"/>
                <a:cs typeface="Arial" panose="020B0604020202020204" pitchFamily="34" charset="0"/>
              </a:rPr>
              <a:t>how flexible resources can be modelled, predicted, and optimised within increasingly complex energy systems. 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7363550-1DE4-AB3E-C2B3-4942148C9AB5}"/>
              </a:ext>
            </a:extLst>
          </p:cNvPr>
          <p:cNvGrpSpPr/>
          <p:nvPr/>
        </p:nvGrpSpPr>
        <p:grpSpPr>
          <a:xfrm>
            <a:off x="1957919" y="1882074"/>
            <a:ext cx="8276162" cy="3551880"/>
            <a:chOff x="1957919" y="1354590"/>
            <a:chExt cx="8276162" cy="355188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387579D-5F8F-C4CE-F6AF-DCAC9D7A5F3B}"/>
                </a:ext>
              </a:extLst>
            </p:cNvPr>
            <p:cNvSpPr/>
            <p:nvPr/>
          </p:nvSpPr>
          <p:spPr>
            <a:xfrm>
              <a:off x="3387727" y="1354590"/>
              <a:ext cx="5416545" cy="554629"/>
            </a:xfrm>
            <a:prstGeom prst="rect">
              <a:avLst/>
            </a:prstGeom>
            <a:noFill/>
            <a:ln w="25400">
              <a:solidFill>
                <a:srgbClr val="6A9C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rgbClr val="6A9C4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V2G Flexibility for ADN (The original PhD proposal) 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9B7B2C6-7D64-2654-EDAB-485D84ECFD1D}"/>
                </a:ext>
              </a:extLst>
            </p:cNvPr>
            <p:cNvSpPr/>
            <p:nvPr/>
          </p:nvSpPr>
          <p:spPr>
            <a:xfrm>
              <a:off x="2029971" y="2304243"/>
              <a:ext cx="8132055" cy="587103"/>
            </a:xfrm>
            <a:prstGeom prst="rect">
              <a:avLst/>
            </a:prstGeom>
            <a:noFill/>
            <a:ln w="25400">
              <a:solidFill>
                <a:srgbClr val="EA742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noProof="0" dirty="0">
                  <a:solidFill>
                    <a:srgbClr val="EA7425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rPr>
                <a:t>A Forecast-Driven Multi-Objective Optimisation Framework for Multi-Energy Systems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3D964D0-6E2C-A7F7-AD34-9EFC1CCC2D8A}"/>
                </a:ext>
              </a:extLst>
            </p:cNvPr>
            <p:cNvSpPr/>
            <p:nvPr/>
          </p:nvSpPr>
          <p:spPr>
            <a:xfrm>
              <a:off x="2408200" y="4300700"/>
              <a:ext cx="7594127" cy="605770"/>
            </a:xfrm>
            <a:prstGeom prst="rect">
              <a:avLst/>
            </a:prstGeom>
            <a:noFill/>
            <a:ln w="19050">
              <a:solidFill>
                <a:srgbClr val="2A72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noProof="0" dirty="0">
                  <a:solidFill>
                    <a:srgbClr val="2A72B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Future Work: Complex engineering scenarios with the high-performance algorithm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738F7D8-72C8-C12C-AEA6-5A052558E793}"/>
                </a:ext>
              </a:extLst>
            </p:cNvPr>
            <p:cNvGrpSpPr/>
            <p:nvPr/>
          </p:nvGrpSpPr>
          <p:grpSpPr>
            <a:xfrm>
              <a:off x="1957919" y="3293138"/>
              <a:ext cx="8276162" cy="611563"/>
              <a:chOff x="1833459" y="3409560"/>
              <a:chExt cx="8276162" cy="611563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1AE5C26-EC76-321C-A851-03BB1BCD3B4B}"/>
                  </a:ext>
                </a:extLst>
              </p:cNvPr>
              <p:cNvSpPr/>
              <p:nvPr/>
            </p:nvSpPr>
            <p:spPr>
              <a:xfrm>
                <a:off x="1833459" y="3415353"/>
                <a:ext cx="2047232" cy="605770"/>
              </a:xfrm>
              <a:prstGeom prst="rect">
                <a:avLst/>
              </a:prstGeom>
              <a:noFill/>
              <a:ln w="19050">
                <a:solidFill>
                  <a:srgbClr val="2A72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noProof="0" dirty="0">
                    <a:solidFill>
                      <a:srgbClr val="2A72B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Stage 2: Reliable Long-Term Forecasting Input</a:t>
                </a: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2E848AFA-93B0-3C3E-BC32-BA9479E01270}"/>
                  </a:ext>
                </a:extLst>
              </p:cNvPr>
              <p:cNvSpPr/>
              <p:nvPr/>
            </p:nvSpPr>
            <p:spPr>
              <a:xfrm>
                <a:off x="4375895" y="3409560"/>
                <a:ext cx="2128027" cy="605770"/>
              </a:xfrm>
              <a:prstGeom prst="rect">
                <a:avLst/>
              </a:prstGeom>
              <a:noFill/>
              <a:ln w="19050">
                <a:solidFill>
                  <a:srgbClr val="2A72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noProof="0" dirty="0">
                    <a:solidFill>
                      <a:srgbClr val="2A72B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Stage 1: MES Modelling and Optimisation</a:t>
                </a: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7B51965-AE30-A278-0AFF-B2C0BDC1EE47}"/>
                  </a:ext>
                </a:extLst>
              </p:cNvPr>
              <p:cNvSpPr/>
              <p:nvPr/>
            </p:nvSpPr>
            <p:spPr>
              <a:xfrm>
                <a:off x="6999126" y="3409560"/>
                <a:ext cx="3110495" cy="605770"/>
              </a:xfrm>
              <a:prstGeom prst="rect">
                <a:avLst/>
              </a:prstGeom>
              <a:noFill/>
              <a:ln w="19050">
                <a:solidFill>
                  <a:srgbClr val="2A72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dirty="0">
                    <a:solidFill>
                      <a:srgbClr val="2A72B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Engineering </a:t>
                </a:r>
                <a:r>
                  <a:rPr lang="en-US" altLang="zh-CN" sz="1400" dirty="0">
                    <a:solidFill>
                      <a:srgbClr val="2A72B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Extension</a:t>
                </a:r>
                <a:r>
                  <a:rPr lang="en-GB" sz="1400" noProof="0" dirty="0">
                    <a:solidFill>
                      <a:srgbClr val="2A72B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LVOE project - practical LVAC case study </a:t>
                </a:r>
              </a:p>
            </p:txBody>
          </p:sp>
          <p:sp>
            <p:nvSpPr>
              <p:cNvPr id="21" name="加号 20">
                <a:extLst>
                  <a:ext uri="{FF2B5EF4-FFF2-40B4-BE49-F238E27FC236}">
                    <a16:creationId xmlns:a16="http://schemas.microsoft.com/office/drawing/2014/main" id="{FFAAC2B1-1956-8378-F493-A20A3D9465D9}"/>
                  </a:ext>
                </a:extLst>
              </p:cNvPr>
              <p:cNvSpPr/>
              <p:nvPr/>
            </p:nvSpPr>
            <p:spPr>
              <a:xfrm>
                <a:off x="6557354" y="3492792"/>
                <a:ext cx="388340" cy="388300"/>
              </a:xfrm>
              <a:prstGeom prst="mathPlus">
                <a:avLst/>
              </a:prstGeom>
              <a:solidFill>
                <a:srgbClr val="DAE3F3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>
                  <a:solidFill>
                    <a:prstClr val="white"/>
                  </a:solidFill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" name="箭头: 下 11">
              <a:extLst>
                <a:ext uri="{FF2B5EF4-FFF2-40B4-BE49-F238E27FC236}">
                  <a16:creationId xmlns:a16="http://schemas.microsoft.com/office/drawing/2014/main" id="{D496FE44-AE5B-BC63-B712-9CEDAF8DEA56}"/>
                </a:ext>
              </a:extLst>
            </p:cNvPr>
            <p:cNvSpPr/>
            <p:nvPr/>
          </p:nvSpPr>
          <p:spPr>
            <a:xfrm>
              <a:off x="5986727" y="1944341"/>
              <a:ext cx="218537" cy="314696"/>
            </a:xfrm>
            <a:prstGeom prst="downArrow">
              <a:avLst/>
            </a:prstGeom>
            <a:solidFill>
              <a:srgbClr val="B3D59B"/>
            </a:solidFill>
            <a:ln>
              <a:solidFill>
                <a:srgbClr val="6A9C4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箭头: 下 12">
              <a:extLst>
                <a:ext uri="{FF2B5EF4-FFF2-40B4-BE49-F238E27FC236}">
                  <a16:creationId xmlns:a16="http://schemas.microsoft.com/office/drawing/2014/main" id="{9FF90413-0A77-A2CD-F7C0-A8129B1A5713}"/>
                </a:ext>
              </a:extLst>
            </p:cNvPr>
            <p:cNvSpPr/>
            <p:nvPr/>
          </p:nvSpPr>
          <p:spPr>
            <a:xfrm rot="10800000">
              <a:off x="2872266" y="2936552"/>
              <a:ext cx="218537" cy="314696"/>
            </a:xfrm>
            <a:prstGeom prst="downArrow">
              <a:avLst/>
            </a:prstGeom>
            <a:solidFill>
              <a:srgbClr val="DAE3F3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" name="箭头: 下 13">
              <a:extLst>
                <a:ext uri="{FF2B5EF4-FFF2-40B4-BE49-F238E27FC236}">
                  <a16:creationId xmlns:a16="http://schemas.microsoft.com/office/drawing/2014/main" id="{FE090418-D031-EFAE-595F-13BA16798858}"/>
                </a:ext>
              </a:extLst>
            </p:cNvPr>
            <p:cNvSpPr/>
            <p:nvPr/>
          </p:nvSpPr>
          <p:spPr>
            <a:xfrm rot="10800000">
              <a:off x="5455099" y="2938874"/>
              <a:ext cx="218537" cy="314696"/>
            </a:xfrm>
            <a:prstGeom prst="downArrow">
              <a:avLst/>
            </a:prstGeom>
            <a:solidFill>
              <a:srgbClr val="DAE3F3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5" name="箭头: 下 14">
              <a:extLst>
                <a:ext uri="{FF2B5EF4-FFF2-40B4-BE49-F238E27FC236}">
                  <a16:creationId xmlns:a16="http://schemas.microsoft.com/office/drawing/2014/main" id="{798E24B9-CD69-BE83-168F-5F3C90768298}"/>
                </a:ext>
              </a:extLst>
            </p:cNvPr>
            <p:cNvSpPr/>
            <p:nvPr/>
          </p:nvSpPr>
          <p:spPr>
            <a:xfrm rot="10800000">
              <a:off x="8564743" y="2938874"/>
              <a:ext cx="218537" cy="314696"/>
            </a:xfrm>
            <a:prstGeom prst="downArrow">
              <a:avLst/>
            </a:prstGeom>
            <a:solidFill>
              <a:srgbClr val="DAE3F3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" name="箭头: 下 15">
              <a:extLst>
                <a:ext uri="{FF2B5EF4-FFF2-40B4-BE49-F238E27FC236}">
                  <a16:creationId xmlns:a16="http://schemas.microsoft.com/office/drawing/2014/main" id="{A410BC70-8B6B-C49D-AC8D-7D695763554D}"/>
                </a:ext>
              </a:extLst>
            </p:cNvPr>
            <p:cNvSpPr/>
            <p:nvPr/>
          </p:nvSpPr>
          <p:spPr>
            <a:xfrm rot="16200000">
              <a:off x="4143485" y="3413172"/>
              <a:ext cx="218537" cy="314696"/>
            </a:xfrm>
            <a:prstGeom prst="downArrow">
              <a:avLst/>
            </a:prstGeom>
            <a:solidFill>
              <a:srgbClr val="DAE3F3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7" name="箭头: 下 16">
              <a:extLst>
                <a:ext uri="{FF2B5EF4-FFF2-40B4-BE49-F238E27FC236}">
                  <a16:creationId xmlns:a16="http://schemas.microsoft.com/office/drawing/2014/main" id="{D772523A-BF31-BDF1-E4BF-4234E3980CCE}"/>
                </a:ext>
              </a:extLst>
            </p:cNvPr>
            <p:cNvSpPr/>
            <p:nvPr/>
          </p:nvSpPr>
          <p:spPr>
            <a:xfrm rot="10800000">
              <a:off x="5455098" y="3938475"/>
              <a:ext cx="218537" cy="314696"/>
            </a:xfrm>
            <a:prstGeom prst="downArrow">
              <a:avLst/>
            </a:prstGeom>
            <a:solidFill>
              <a:srgbClr val="DAE3F3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prstClr val="white"/>
                </a:solidFill>
                <a:latin typeface="等线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22" name="标题 1">
            <a:extLst>
              <a:ext uri="{FF2B5EF4-FFF2-40B4-BE49-F238E27FC236}">
                <a16:creationId xmlns:a16="http://schemas.microsoft.com/office/drawing/2014/main" id="{A522DE1D-F670-D75E-2636-EF6195F69E4C}"/>
              </a:ext>
            </a:extLst>
          </p:cNvPr>
          <p:cNvSpPr txBox="1">
            <a:spLocks/>
          </p:cNvSpPr>
          <p:nvPr/>
        </p:nvSpPr>
        <p:spPr>
          <a:xfrm>
            <a:off x="838200" y="1385845"/>
            <a:ext cx="2252603" cy="6089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sz="16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Research Framework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983BEC-6282-780C-63A2-577CF95322F9}"/>
              </a:ext>
            </a:extLst>
          </p:cNvPr>
          <p:cNvSpPr txBox="1"/>
          <p:nvPr/>
        </p:nvSpPr>
        <p:spPr>
          <a:xfrm>
            <a:off x="838200" y="2435728"/>
            <a:ext cx="1805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noProof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Expected</a:t>
            </a:r>
            <a:r>
              <a:rPr lang="en-GB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400" b="1" noProof="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Outcome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D4347B-FA76-8C4A-9713-FD29EE837CE7}"/>
              </a:ext>
            </a:extLst>
          </p:cNvPr>
          <p:cNvSpPr txBox="1"/>
          <p:nvPr/>
        </p:nvSpPr>
        <p:spPr>
          <a:xfrm>
            <a:off x="838200" y="3470956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 b="1"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noProof="0" dirty="0"/>
              <a:t>How to realise</a:t>
            </a:r>
          </a:p>
        </p:txBody>
      </p:sp>
    </p:spTree>
    <p:extLst>
      <p:ext uri="{BB962C8B-B14F-4D97-AF65-F5344CB8AC3E}">
        <p14:creationId xmlns:p14="http://schemas.microsoft.com/office/powerpoint/2010/main" val="690166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8DFCD-7BA0-2A90-5B54-2DDA54FEE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2CEF8-F0E7-3B08-75C6-007055757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742"/>
            <a:ext cx="10515600" cy="752458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Outputs Supporting the PhD Framework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9294C8-BBBB-2D99-4978-F9F2FB452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236" y="1076694"/>
            <a:ext cx="11633528" cy="560756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Stage 1: MES Modelling and </a:t>
            </a:r>
            <a:r>
              <a:rPr lang="en-US" altLang="zh-C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endParaRPr lang="en-US" altLang="zh-C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 first-stage work developed an Energy Hub simulation and multi-objective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framework using an improved intelligent algorithm.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“A new model of energy hubs and multi-objective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 for future net-zero distribution networks,” 22nd IET International Conference on AC and DC Power Transmission (ACDC Global 2025), Birmingham, UK, 2025, pp. 313–319.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: 10.1049/icp.2025.1224. Best Poster Award.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Stage 2: Generative AI-Based Long-Term PV Forecasting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 second-stage work developed a generative AI-enhanced hybrid forecasting framework for reliable long-term PV forecasting, serving as the forecasting engine for the PhD framework.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“A Generative AI-Enhanced Hybrid Framework for Reliable Long-Term Photovoltaic Power Forecasting,” Energy and AI,</a:t>
            </a:r>
            <a:r>
              <a:rPr lang="zh-CN" alt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IF 9.6, accepted for publication.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Engineering Extension: LVOE Project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In parallel, the LVOE project provided engineering validation through LVAC network modelling, protection analysis, voltage-unbalance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and AI-based fault diagnosis. This work was developed in collaboration with Scottish Power Energy Networks. Main outputs include LVAC overcurrent protection review, Voltage-unbalance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Energy Hub operation and protection analysis, and AI-driven LVAC fault diagnosis.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“Protection insights from optimal operation of offshore energy islands under extreme weather conditions,” 19th IET Conference on Developments in Power System Protection (DPSP Europe 2025), Bilbao, Spain, 2025, pp. 240–245. </a:t>
            </a:r>
            <a:r>
              <a:rPr lang="en-US" altLang="zh-CN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: 10.1049/icp.2025.1076.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</a:rPr>
              <a:t>“Improved Fault Diagnosis for Intelligent LVAC Network Protection,” CIGRE Paris Session 2026, Full Paper accepted.</a:t>
            </a:r>
            <a:endParaRPr lang="en-GB" altLang="zh-CN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618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EA1AE-10AE-5FB3-3AA8-04408B278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4E3F9-C13A-F523-48AC-35439E23A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742"/>
            <a:ext cx="7453393" cy="78715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1: MES Modelling and </a:t>
            </a:r>
            <a:r>
              <a:rPr lang="en-US" altLang="zh-CN" sz="2800" b="1" dirty="0" err="1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05FE47-8B1E-BC32-DA4E-75CFF91F47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8861" y="1095166"/>
            <a:ext cx="5704589" cy="3600000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802C64FA-2D84-7529-5875-BA901416C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804" y="1095166"/>
            <a:ext cx="4554032" cy="2160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5C1AFBC-F9BE-EADA-46EB-3E5B25359E74}"/>
              </a:ext>
            </a:extLst>
          </p:cNvPr>
          <p:cNvSpPr txBox="1"/>
          <p:nvPr/>
        </p:nvSpPr>
        <p:spPr>
          <a:xfrm>
            <a:off x="6770017" y="3425397"/>
            <a:ext cx="41956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Fig.1 </a:t>
            </a:r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Illustration of the constructed EHs model representing an Eco-friendly Industrial Park: </a:t>
            </a:r>
          </a:p>
          <a:p>
            <a:pPr marL="342900" indent="-342900" algn="just">
              <a:spcBef>
                <a:spcPts val="600"/>
              </a:spcBef>
              <a:buAutoNum type="alphaLcParenBoth"/>
            </a:pPr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overall multi-energy system structure; </a:t>
            </a:r>
          </a:p>
          <a:p>
            <a:pPr marL="342900" indent="-342900" algn="just">
              <a:spcBef>
                <a:spcPts val="600"/>
              </a:spcBef>
              <a:buAutoNum type="alphaLcParenBoth"/>
            </a:pPr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detailed configuration of the CCHP subsystem.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D0440E-2E23-1667-C7FA-F57336571AEE}"/>
              </a:ext>
            </a:extLst>
          </p:cNvPr>
          <p:cNvSpPr txBox="1"/>
          <p:nvPr/>
        </p:nvSpPr>
        <p:spPr>
          <a:xfrm>
            <a:off x="1651861" y="5064498"/>
            <a:ext cx="88882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Research Role: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Provides the core modelling and validates the effectiveness of the improved intelligent algorithm for MES </a:t>
            </a:r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Multi-Objective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5A555E-7AFA-585C-93FF-2F89A4FBAD51}"/>
              </a:ext>
            </a:extLst>
          </p:cNvPr>
          <p:cNvSpPr txBox="1"/>
          <p:nvPr/>
        </p:nvSpPr>
        <p:spPr>
          <a:xfrm>
            <a:off x="3267757" y="4695166"/>
            <a:ext cx="466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ts val="600"/>
              </a:spcBef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(a)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0B49A0-06B5-C4E8-A203-35AF2DE71043}"/>
              </a:ext>
            </a:extLst>
          </p:cNvPr>
          <p:cNvSpPr txBox="1"/>
          <p:nvPr/>
        </p:nvSpPr>
        <p:spPr>
          <a:xfrm>
            <a:off x="8634422" y="3086164"/>
            <a:ext cx="466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ts val="600"/>
              </a:spcBef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(b)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66462AD-A38D-AB28-B277-0DF6449B8DA2}"/>
              </a:ext>
            </a:extLst>
          </p:cNvPr>
          <p:cNvSpPr txBox="1"/>
          <p:nvPr/>
        </p:nvSpPr>
        <p:spPr>
          <a:xfrm>
            <a:off x="551480" y="6273665"/>
            <a:ext cx="11089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“A new model of energy hubs and multi-objective </a:t>
            </a:r>
            <a:r>
              <a:rPr lang="en-US" altLang="zh-CN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 for future net-zero distribution networks,” 22nd IET International Conference on AC and DC Power Transmission (ACDC Global 2025), Birmingham, UK, 2025, pp. 313–319. </a:t>
            </a:r>
            <a:r>
              <a:rPr lang="en-US" altLang="zh-CN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: 10.1049/icp.2025.1224.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27050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BE10D-BA3F-820F-667B-DC280704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4C307-C77F-8404-9604-38A8D4A42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742"/>
            <a:ext cx="10515600" cy="78715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1: Solutions and Methods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82AB5F-07A9-22BC-6B80-FB8087194D78}"/>
              </a:ext>
            </a:extLst>
          </p:cNvPr>
          <p:cNvSpPr txBox="1"/>
          <p:nvPr/>
        </p:nvSpPr>
        <p:spPr>
          <a:xfrm>
            <a:off x="565688" y="1451595"/>
            <a:ext cx="10957302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The Energy Hub optimisation problem was formulated with three objectives: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perating cost,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arbon emissions, and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System 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reliability.</a:t>
            </a:r>
            <a:endParaRPr lang="en-US" altLang="zh-C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carbon emissions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are considered based on direct emissions during system operation rather than a full lifecycle assessment.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System reliability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is evaluated through the Load Energy Shortage Percentage (LESP).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847C6CB-66FA-3CD1-C688-972E15E38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5" r="36872" b="1"/>
          <a:stretch/>
        </p:blipFill>
        <p:spPr>
          <a:xfrm>
            <a:off x="565688" y="3163348"/>
            <a:ext cx="4455559" cy="64523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7E3E1FA-416F-4E69-3C51-7878D8372499}"/>
              </a:ext>
            </a:extLst>
          </p:cNvPr>
          <p:cNvSpPr txBox="1"/>
          <p:nvPr/>
        </p:nvSpPr>
        <p:spPr>
          <a:xfrm>
            <a:off x="565688" y="4146610"/>
            <a:ext cx="109573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multi-objective optimisation problems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different objectives often conflict, meaning a single solution cannot intuitively reflect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the trade-offs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between objectives. 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Decision-makers' preferences and other variations will directly </a:t>
            </a:r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outcomes.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86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6DADC-A5B7-D8A9-7159-754949F4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08A1C6-E540-8162-F5BD-F9FBE64BE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742"/>
            <a:ext cx="10515600" cy="78715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1: Solutions and Methods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7EA1F1-21EF-C88A-7132-4866C3DFFC5C}"/>
              </a:ext>
            </a:extLst>
          </p:cNvPr>
          <p:cNvSpPr txBox="1"/>
          <p:nvPr/>
        </p:nvSpPr>
        <p:spPr>
          <a:xfrm>
            <a:off x="565689" y="1406818"/>
            <a:ext cx="10957302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An improved MOGWO was developed by combining Pareto-based search, improved convergence control, mutation operation, and fuzzy decision selection.</a:t>
            </a:r>
          </a:p>
          <a:p>
            <a:pPr algn="just">
              <a:spcBef>
                <a:spcPts val="1000"/>
              </a:spcBef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The output is not a single deterministic solution, but a set of Pareto-optimal strategies for different decision preferences.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E0C3D6-4695-72E0-D8C2-C63BB410E6F2}"/>
              </a:ext>
            </a:extLst>
          </p:cNvPr>
          <p:cNvSpPr txBox="1"/>
          <p:nvPr/>
        </p:nvSpPr>
        <p:spPr>
          <a:xfrm>
            <a:off x="565689" y="4435526"/>
            <a:ext cx="4750230" cy="1461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just" fontAlgn="base">
              <a:spcBef>
                <a:spcPts val="600"/>
              </a:spcBef>
              <a:spcAft>
                <a:spcPct val="0"/>
              </a:spcAft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400" dirty="0"/>
              <a:t>Pareto Front</a:t>
            </a:r>
            <a:endParaRPr lang="en-GB" altLang="zh-CN" sz="1400" dirty="0"/>
          </a:p>
          <a:p>
            <a:r>
              <a:rPr lang="en-GB" altLang="zh-CN" sz="1400" b="0" dirty="0"/>
              <a:t>In multi-objective optimisation, the Pareto Front is the set of all Pareto-efficient solutions. These solutions represent the best trade-offs among multiple objectives, meaning that no objective can be improved without deteriorating at least one other objective.</a:t>
            </a:r>
            <a:endParaRPr lang="zh-CN" altLang="en-US" sz="1400" b="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CEE1B084-0141-4362-BD53-DDC5BDABC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807" y="3092193"/>
            <a:ext cx="24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EEA5E16-68C8-2834-9096-41486860F5BE}"/>
              </a:ext>
            </a:extLst>
          </p:cNvPr>
          <p:cNvSpPr txBox="1"/>
          <p:nvPr/>
        </p:nvSpPr>
        <p:spPr>
          <a:xfrm>
            <a:off x="8907349" y="5052727"/>
            <a:ext cx="287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spcBef>
                <a:spcPts val="600"/>
              </a:spcBef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Fig.3 An example of a Pareto front.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3336A-490E-D9C0-1433-2566DEB31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89" y="3092193"/>
            <a:ext cx="4750230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ts val="600"/>
              </a:spcBef>
              <a:spcAft>
                <a:spcPct val="0"/>
              </a:spcAft>
            </a:pPr>
            <a:r>
              <a:rPr lang="en-GB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Multi-Objective Grey Wolf Optimiser (MOGWO)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indent="0" algn="just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MOGWO simulates the structure of a wolf pack for </a:t>
            </a:r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and mimics grey wolves’ three main hunting phases: encircling, hunting and attacking prey, to find the global optimum solution.</a:t>
            </a:r>
            <a:endParaRPr lang="en-GB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EF4553-F825-42AE-62E0-DB77DC9F1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351" y="3272193"/>
            <a:ext cx="2454374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E6AAA9F-BA6B-4CFC-9EF6-028609E47103}"/>
              </a:ext>
            </a:extLst>
          </p:cNvPr>
          <p:cNvSpPr txBox="1"/>
          <p:nvPr/>
        </p:nvSpPr>
        <p:spPr>
          <a:xfrm>
            <a:off x="5884446" y="5052727"/>
            <a:ext cx="2454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400" dirty="0"/>
              <a:t>Fig.2 The social hierarchy of a pack of grey wolves.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98470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5A036-9B6D-1ACB-410C-115977093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59091-E473-ABC8-86D7-BE6173D1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742"/>
            <a:ext cx="10515600" cy="78715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1: Case Study and Key Findings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C45168-6CB8-5761-41AA-A0DBE83C1095}"/>
              </a:ext>
            </a:extLst>
          </p:cNvPr>
          <p:cNvSpPr txBox="1"/>
          <p:nvPr/>
        </p:nvSpPr>
        <p:spPr>
          <a:xfrm>
            <a:off x="420078" y="1092253"/>
            <a:ext cx="11351843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 Energy Hub model was tested on an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18-bus distribution network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with bidirectional interaction with the upper-level electricity grid through power purchasing and selling. Three predefined operating scenarios were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analysed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standard day, summer day, and winter day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with a fixed-schedule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fuel cell bus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included to represent transport-related hydrogen demand.</a:t>
            </a:r>
          </a:p>
          <a:p>
            <a:pPr algn="just">
              <a:spcBef>
                <a:spcPts val="10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To test the decision-support capability of the improved MOGWO, three stakeholder preference settings were considered: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Government (GOV), Operators (OPE), and Residents (RES)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. GOV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prioritises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carbon reduction, OPE balances carbon emissions and reliability, while RES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prioritises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cost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minimisation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10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 results show that the improved MOGWO produced well-distributed Pareto solutions and captured the trade-off among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cost, carbon emissions, and reliability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across different seasonal scenarios and stakeholder preferences.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C4ACD73-C859-7104-AE51-6E89B6B9F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195056"/>
              </p:ext>
            </p:extLst>
          </p:nvPr>
        </p:nvGraphicFramePr>
        <p:xfrm>
          <a:off x="675800" y="3540034"/>
          <a:ext cx="5811200" cy="24092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9234">
                  <a:extLst>
                    <a:ext uri="{9D8B030D-6E8A-4147-A177-3AD203B41FA5}">
                      <a16:colId xmlns:a16="http://schemas.microsoft.com/office/drawing/2014/main" val="1082182421"/>
                    </a:ext>
                  </a:extLst>
                </a:gridCol>
                <a:gridCol w="697423">
                  <a:extLst>
                    <a:ext uri="{9D8B030D-6E8A-4147-A177-3AD203B41FA5}">
                      <a16:colId xmlns:a16="http://schemas.microsoft.com/office/drawing/2014/main" val="1001584744"/>
                    </a:ext>
                  </a:extLst>
                </a:gridCol>
                <a:gridCol w="1115878">
                  <a:extLst>
                    <a:ext uri="{9D8B030D-6E8A-4147-A177-3AD203B41FA5}">
                      <a16:colId xmlns:a16="http://schemas.microsoft.com/office/drawing/2014/main" val="322347601"/>
                    </a:ext>
                  </a:extLst>
                </a:gridCol>
                <a:gridCol w="2084522">
                  <a:extLst>
                    <a:ext uri="{9D8B030D-6E8A-4147-A177-3AD203B41FA5}">
                      <a16:colId xmlns:a16="http://schemas.microsoft.com/office/drawing/2014/main" val="2775850550"/>
                    </a:ext>
                  </a:extLst>
                </a:gridCol>
                <a:gridCol w="984143">
                  <a:extLst>
                    <a:ext uri="{9D8B030D-6E8A-4147-A177-3AD203B41FA5}">
                      <a16:colId xmlns:a16="http://schemas.microsoft.com/office/drawing/2014/main" val="3385331459"/>
                    </a:ext>
                  </a:extLst>
                </a:gridCol>
              </a:tblGrid>
              <a:tr h="3889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Scenario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(RMB)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Carbon Emission (kg)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LESP (%)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477391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altLang="en-US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109110.36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7903.81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4.77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63014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109617.69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8051.84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4.70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679327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109110.36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7903.81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4.77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4701174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Summer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altLang="en-US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114366.13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10737.66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8.25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29970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115939.26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10999.52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7.76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24107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114167.15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10720.92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8.37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73299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Winter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zh-CN" altLang="en-US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121975.91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10638.00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4.50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59526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122430.50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10733.20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4.41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531176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121294.64</a:t>
                      </a:r>
                      <a:endParaRPr lang="zh-CN" sz="1400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10600.28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250"/>
                        </a:spcBef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4.80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8335855"/>
                  </a:ext>
                </a:extLst>
              </a:tr>
            </a:tbl>
          </a:graphicData>
        </a:graphic>
      </p:graphicFrame>
      <p:pic>
        <p:nvPicPr>
          <p:cNvPr id="6" name="图片 5" descr="图表, 散点图&#10;&#10;描述已自动生成">
            <a:extLst>
              <a:ext uri="{FF2B5EF4-FFF2-40B4-BE49-F238E27FC236}">
                <a16:creationId xmlns:a16="http://schemas.microsoft.com/office/drawing/2014/main" id="{985F74DB-9FA7-FC15-6281-68A612394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951" y="3390255"/>
            <a:ext cx="3521161" cy="220916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CF4731A-6936-0522-EB14-F05297B2A222}"/>
              </a:ext>
            </a:extLst>
          </p:cNvPr>
          <p:cNvSpPr/>
          <p:nvPr/>
        </p:nvSpPr>
        <p:spPr>
          <a:xfrm>
            <a:off x="2815882" y="6078488"/>
            <a:ext cx="6560234" cy="65734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/>
            </a:pPr>
            <a:r>
              <a:rPr lang="en-US" altLang="zh-CN" sz="1600" b="1" dirty="0">
                <a:solidFill>
                  <a:srgbClr val="2A72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r>
              <a:rPr lang="zh-CN" altLang="en-US" sz="1600" b="1" dirty="0">
                <a:solidFill>
                  <a:srgbClr val="2A72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rgbClr val="2A72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 Modelling and Validation</a:t>
            </a:r>
            <a:r>
              <a:rPr lang="zh-CN" altLang="en-US" sz="2400" b="1" dirty="0">
                <a:solidFill>
                  <a:srgbClr val="2A72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√ </a:t>
            </a:r>
            <a:r>
              <a:rPr lang="en-US" altLang="zh-CN" sz="1600" b="1" dirty="0">
                <a:solidFill>
                  <a:srgbClr val="2A72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r>
              <a:rPr lang="zh-CN" altLang="en-US" sz="1600" b="1" dirty="0">
                <a:solidFill>
                  <a:srgbClr val="2A72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rgbClr val="2A72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 Improvement</a:t>
            </a:r>
            <a:r>
              <a:rPr lang="zh-CN" altLang="en-US" sz="1600" b="1" dirty="0">
                <a:solidFill>
                  <a:srgbClr val="2A72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rgbClr val="2A72B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√ </a:t>
            </a:r>
            <a:endParaRPr lang="en-GB" sz="2400" b="1" dirty="0">
              <a:solidFill>
                <a:srgbClr val="2A72B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A1B2BC-E728-0D2F-3D41-144A77D88A1A}"/>
              </a:ext>
            </a:extLst>
          </p:cNvPr>
          <p:cNvSpPr txBox="1"/>
          <p:nvPr/>
        </p:nvSpPr>
        <p:spPr>
          <a:xfrm>
            <a:off x="6663913" y="5689603"/>
            <a:ext cx="5424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altLang="zh-CN" dirty="0"/>
              <a:t>Fig.4 Pareto Front for the summer scenario with demand response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027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77D1E-4D87-3D54-34D3-F628E857F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BF59-2386-DF57-CA0F-CA5CA7EB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223"/>
            <a:ext cx="10515600" cy="880143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Transition: From </a:t>
            </a:r>
            <a:r>
              <a:rPr lang="en-US" altLang="zh-CN" sz="2800" b="1" dirty="0" err="1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Engine to Forecast-Driven Decision-Making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DCDB06-9851-7DB6-1FF8-D84391114A94}"/>
              </a:ext>
            </a:extLst>
          </p:cNvPr>
          <p:cNvSpPr txBox="1"/>
          <p:nvPr/>
        </p:nvSpPr>
        <p:spPr>
          <a:xfrm>
            <a:off x="838199" y="1595948"/>
            <a:ext cx="10258586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Stage 1 established a workable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engine for MES operation, but it also revealed a more fundamental issue: an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model is only as useful as the inputs that drive it.</a:t>
            </a:r>
          </a:p>
          <a:p>
            <a:pPr algn="just">
              <a:spcBef>
                <a:spcPts val="10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 the current Energy Hub framework, renewable generation, demand profiles, electricity prices, and operating conditions are treated as known inputs. This is reasonable for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analysing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historical or representative operating scenarios, but it limits the model to answering a short-term question: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how should the system operate under given conditions?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0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 long-term planning, the key question is different: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how should the system operate when future renewable generation, demand, prices, and flexibility availability are uncertain?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This is especially important for MES, V2G, storage, and demand response, because their value depends on future system states rather than historical averages.</a:t>
            </a:r>
          </a:p>
          <a:p>
            <a:pPr algn="just">
              <a:spcBef>
                <a:spcPts val="10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Therefore, the research naturally moves from building an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engine to constructing reliable future inputs for that engine. This transition leads directly to Stage 2: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forecast-driven </a:t>
            </a:r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under uncertainty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4A1636-D5F7-3EE9-FDC7-DB44A980F5F3}"/>
              </a:ext>
            </a:extLst>
          </p:cNvPr>
          <p:cNvSpPr txBox="1"/>
          <p:nvPr/>
        </p:nvSpPr>
        <p:spPr>
          <a:xfrm>
            <a:off x="760062" y="6236778"/>
            <a:ext cx="104148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“A Generative AI-Enhanced Hybrid Framework for Reliable Long-Term Photovoltaic Power Forecasting,” Energy and AI,</a:t>
            </a:r>
            <a:r>
              <a:rPr lang="zh-CN" alt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IF 9.6, accepted for publication.</a:t>
            </a:r>
          </a:p>
        </p:txBody>
      </p:sp>
    </p:spTree>
    <p:extLst>
      <p:ext uri="{BB962C8B-B14F-4D97-AF65-F5344CB8AC3E}">
        <p14:creationId xmlns:p14="http://schemas.microsoft.com/office/powerpoint/2010/main" val="3522396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336F-ACA4-C9E2-0129-2F5323CF7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C749F-D54C-A6F3-2326-46C65B66C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223"/>
            <a:ext cx="10515600" cy="880143"/>
          </a:xfrm>
        </p:spPr>
        <p:txBody>
          <a:bodyPr>
            <a:no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2: Motivation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D49769-F7EA-506D-B52D-BEE28FF78E8B}"/>
              </a:ext>
            </a:extLst>
          </p:cNvPr>
          <p:cNvSpPr txBox="1"/>
          <p:nvPr/>
        </p:nvSpPr>
        <p:spPr>
          <a:xfrm>
            <a:off x="838199" y="1595948"/>
            <a:ext cx="10258586" cy="394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 MES planning, key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inputs such as renewable generation, load demand, and operating conditions need to be forecast before future decisions can be made. However, these future system states are uncertain, and detailed future-year meteorological variables are not available in advance. This creates a major limitation for recent high-accuracy forecasting models, because most of them depend on observed or concurrent weather inputs that cannot be accessed in real year-ahead planning.</a:t>
            </a:r>
          </a:p>
          <a:p>
            <a:pPr algn="just">
              <a:spcBef>
                <a:spcPts val="10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High temporal resolution is also essential. MES planning does not only require monthly or daily energy estimates; it also needs detailed profiles that capture intra-day variability, ramping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storage operation requirements, and demand interactions. Without this resolution, flexibility needs may be underestimated, and system planning results may become biased.</a:t>
            </a:r>
          </a:p>
          <a:p>
            <a:pPr algn="just">
              <a:spcBef>
                <a:spcPts val="100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Therefore, the recent Stage 2 work develops a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Generative AI-enhanced forecasting pipeline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to construct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15-min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year-ahead meteorological inputs and convert them into PV power forecasts. This provides reliable future renewable inputs for the next step of forecast-driven MES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03E868-184B-E919-5E40-3687BC929B8B}"/>
              </a:ext>
            </a:extLst>
          </p:cNvPr>
          <p:cNvSpPr txBox="1"/>
          <p:nvPr/>
        </p:nvSpPr>
        <p:spPr>
          <a:xfrm>
            <a:off x="760062" y="6236778"/>
            <a:ext cx="104148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“A Generative AI-Enhanced Hybrid Framework for Reliable Long-Term Photovoltaic Power Forecasting,” Energy and AI,</a:t>
            </a:r>
            <a:r>
              <a:rPr lang="zh-CN" alt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IF 9.6, accepted for publication.</a:t>
            </a:r>
          </a:p>
        </p:txBody>
      </p:sp>
    </p:spTree>
    <p:extLst>
      <p:ext uri="{BB962C8B-B14F-4D97-AF65-F5344CB8AC3E}">
        <p14:creationId xmlns:p14="http://schemas.microsoft.com/office/powerpoint/2010/main" val="2267861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F24D0-AA2F-677D-1A35-258FE6E6B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B15B5-C8D9-304C-735D-79698E7B2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726"/>
            <a:ext cx="10515600" cy="736170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2: Step 1 </a:t>
            </a:r>
            <a:r>
              <a:rPr lang="en-GB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Generative Year-Ahead Meteorology (YAM)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75D026-C241-94A0-1CE8-E4EBA2196697}"/>
              </a:ext>
            </a:extLst>
          </p:cNvPr>
          <p:cNvSpPr/>
          <p:nvPr/>
        </p:nvSpPr>
        <p:spPr>
          <a:xfrm>
            <a:off x="1262242" y="2352679"/>
            <a:ext cx="3708027" cy="554629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CN" dirty="0">
                <a:solidFill>
                  <a:srgbClr val="6A9C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 Time GAN</a:t>
            </a:r>
            <a:endParaRPr lang="zh-CN" altLang="en-US" dirty="0">
              <a:solidFill>
                <a:srgbClr val="6A9C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BB861E91-F2FC-9BD2-3A15-CB7F7583473E}"/>
              </a:ext>
            </a:extLst>
          </p:cNvPr>
          <p:cNvSpPr/>
          <p:nvPr/>
        </p:nvSpPr>
        <p:spPr>
          <a:xfrm>
            <a:off x="3006986" y="2005365"/>
            <a:ext cx="218537" cy="314696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9BAF0F-CA80-13FB-F12D-C0815C38204A}"/>
              </a:ext>
            </a:extLst>
          </p:cNvPr>
          <p:cNvSpPr/>
          <p:nvPr/>
        </p:nvSpPr>
        <p:spPr>
          <a:xfrm>
            <a:off x="1262242" y="1418772"/>
            <a:ext cx="3708028" cy="554629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CN" dirty="0">
                <a:solidFill>
                  <a:srgbClr val="6A9C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Yearly dataset and Pre-processing</a:t>
            </a:r>
            <a:endParaRPr lang="zh-CN" altLang="en-US" dirty="0">
              <a:solidFill>
                <a:srgbClr val="6A9C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D04F0822-3D82-9791-43D4-0820CB38FEEE}"/>
              </a:ext>
            </a:extLst>
          </p:cNvPr>
          <p:cNvSpPr/>
          <p:nvPr/>
        </p:nvSpPr>
        <p:spPr>
          <a:xfrm>
            <a:off x="3006985" y="2940978"/>
            <a:ext cx="218537" cy="314696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3E0A9F-1598-CB98-9277-D6D1F577F12E}"/>
              </a:ext>
            </a:extLst>
          </p:cNvPr>
          <p:cNvSpPr/>
          <p:nvPr/>
        </p:nvSpPr>
        <p:spPr>
          <a:xfrm>
            <a:off x="1262242" y="3299372"/>
            <a:ext cx="3708027" cy="554629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6A9C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LLM-Based Climatic Trend Refinement</a:t>
            </a:r>
            <a:endParaRPr lang="zh-CN" altLang="en-US" dirty="0">
              <a:solidFill>
                <a:srgbClr val="6A9C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0F4EF5E4-792F-EEB2-AEDF-1DBE7AFA2335}"/>
              </a:ext>
            </a:extLst>
          </p:cNvPr>
          <p:cNvSpPr/>
          <p:nvPr/>
        </p:nvSpPr>
        <p:spPr>
          <a:xfrm>
            <a:off x="3006985" y="3892685"/>
            <a:ext cx="218537" cy="314696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565E48-2B7C-1B49-DF42-92AE5243943F}"/>
              </a:ext>
            </a:extLst>
          </p:cNvPr>
          <p:cNvSpPr/>
          <p:nvPr/>
        </p:nvSpPr>
        <p:spPr>
          <a:xfrm>
            <a:off x="1250041" y="4246065"/>
            <a:ext cx="3708027" cy="554629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GB" altLang="zh-CN" dirty="0">
                <a:solidFill>
                  <a:srgbClr val="6A9C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Generative YAM</a:t>
            </a:r>
            <a:endParaRPr lang="zh-CN" altLang="en-US" dirty="0">
              <a:solidFill>
                <a:srgbClr val="6A9C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AA370E-435C-AA57-FFE7-1E12768E0990}"/>
              </a:ext>
            </a:extLst>
          </p:cNvPr>
          <p:cNvSpPr/>
          <p:nvPr/>
        </p:nvSpPr>
        <p:spPr>
          <a:xfrm>
            <a:off x="1250041" y="5193713"/>
            <a:ext cx="3708027" cy="554629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6A9C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</a:t>
            </a:r>
            <a:r>
              <a:rPr lang="en-US" altLang="zh-CN" dirty="0">
                <a:solidFill>
                  <a:srgbClr val="6A9C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Realism </a:t>
            </a:r>
            <a:r>
              <a:rPr lang="en-US" altLang="zh-CN">
                <a:solidFill>
                  <a:srgbClr val="6A9C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GB" altLang="zh-CN" dirty="0">
                <a:solidFill>
                  <a:srgbClr val="6A9C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Privacy-aware Check</a:t>
            </a:r>
            <a:endParaRPr lang="zh-CN" altLang="en-US" dirty="0">
              <a:solidFill>
                <a:srgbClr val="6A9C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84A62DD6-698F-0713-F58A-16CBA37B1591}"/>
              </a:ext>
            </a:extLst>
          </p:cNvPr>
          <p:cNvSpPr/>
          <p:nvPr/>
        </p:nvSpPr>
        <p:spPr>
          <a:xfrm>
            <a:off x="2994785" y="4846718"/>
            <a:ext cx="218537" cy="314696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C06D86-AA7A-69AC-020D-57CAB539D185}"/>
              </a:ext>
            </a:extLst>
          </p:cNvPr>
          <p:cNvSpPr txBox="1"/>
          <p:nvPr/>
        </p:nvSpPr>
        <p:spPr>
          <a:xfrm>
            <a:off x="5457340" y="1582340"/>
            <a:ext cx="589646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 first step constructs Generative YAM to replace unavailable future meteorological inputs for long-term PV forecasting. </a:t>
            </a:r>
          </a:p>
          <a:p>
            <a:pPr algn="just">
              <a:spcBef>
                <a:spcPts val="10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After pre-processing yearly PV and meteorological data,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CTimeGAN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generates high-resolution future weather sequences while preserving local seasonal and weather-dependent characteristics.</a:t>
            </a:r>
          </a:p>
          <a:p>
            <a:pPr algn="just">
              <a:spcBef>
                <a:spcPts val="10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An LLM-based climatic trend refinement module further adjusts the synthetic sequences using coarse future-year climatic estimates and online reasoning. </a:t>
            </a:r>
          </a:p>
          <a:p>
            <a:pPr algn="just">
              <a:spcBef>
                <a:spcPts val="1000"/>
              </a:spcBef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 final Generative YAM is statistically consistent, physically plausible, future trend-aware, and privacy-aware, making it a reliable input for PV forecasting and later forecast-driven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3099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B79D5-93C0-A2B9-6027-92A675BB2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975336-9588-713A-6857-A64762D8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628"/>
            <a:ext cx="10515600" cy="114384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2: Step 2 Forecasting Model and Intelligent Hyperparameter </a:t>
            </a:r>
            <a:r>
              <a:rPr lang="en-US" altLang="zh-CN" sz="2800" b="1" dirty="0" err="1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5B74FB-02F0-9455-7DCF-2D2D06352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800853"/>
            <a:ext cx="5524500" cy="2550795"/>
          </a:xfrm>
          <a:prstGeom prst="rect">
            <a:avLst/>
          </a:prstGeom>
        </p:spPr>
      </p:pic>
      <p:sp>
        <p:nvSpPr>
          <p:cNvPr id="4" name="箭头: 下 3">
            <a:extLst>
              <a:ext uri="{FF2B5EF4-FFF2-40B4-BE49-F238E27FC236}">
                <a16:creationId xmlns:a16="http://schemas.microsoft.com/office/drawing/2014/main" id="{11CF375D-1D4A-1970-8741-8AEE65562C5C}"/>
              </a:ext>
            </a:extLst>
          </p:cNvPr>
          <p:cNvSpPr/>
          <p:nvPr/>
        </p:nvSpPr>
        <p:spPr>
          <a:xfrm>
            <a:off x="2581966" y="2842641"/>
            <a:ext cx="218537" cy="314696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0763BA8-005D-4977-BF06-3EF08186584F}"/>
              </a:ext>
            </a:extLst>
          </p:cNvPr>
          <p:cNvSpPr/>
          <p:nvPr/>
        </p:nvSpPr>
        <p:spPr>
          <a:xfrm>
            <a:off x="733230" y="2246224"/>
            <a:ext cx="3916011" cy="554629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GB" altLang="zh-CN" dirty="0">
                <a:solidFill>
                  <a:srgbClr val="6A9C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Enhanced Alpha Evolution Optimiser</a:t>
            </a:r>
            <a:endParaRPr lang="zh-CN" altLang="en-US" dirty="0">
              <a:solidFill>
                <a:srgbClr val="6A9C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03C0FB-2693-088C-0123-2DCEE0B32107}"/>
              </a:ext>
            </a:extLst>
          </p:cNvPr>
          <p:cNvSpPr/>
          <p:nvPr/>
        </p:nvSpPr>
        <p:spPr>
          <a:xfrm>
            <a:off x="733230" y="3199125"/>
            <a:ext cx="3916011" cy="554629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GB" altLang="zh-CN" dirty="0">
                <a:solidFill>
                  <a:srgbClr val="6A9C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Transformer-LSTM Model</a:t>
            </a:r>
            <a:endParaRPr lang="zh-CN" altLang="en-US" dirty="0">
              <a:solidFill>
                <a:srgbClr val="6A9C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35510A04-9631-4835-114C-B2860CA9F223}"/>
              </a:ext>
            </a:extLst>
          </p:cNvPr>
          <p:cNvSpPr/>
          <p:nvPr/>
        </p:nvSpPr>
        <p:spPr>
          <a:xfrm>
            <a:off x="2581965" y="3795542"/>
            <a:ext cx="218537" cy="314696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EA6ACE-3A77-1DA8-2024-B8AA4E673DFA}"/>
              </a:ext>
            </a:extLst>
          </p:cNvPr>
          <p:cNvSpPr/>
          <p:nvPr/>
        </p:nvSpPr>
        <p:spPr>
          <a:xfrm>
            <a:off x="733227" y="4152872"/>
            <a:ext cx="3916011" cy="554629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GB" altLang="zh-CN" dirty="0">
                <a:solidFill>
                  <a:srgbClr val="6A9C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Year-ahead PV power output with a resolution of 15 minutes</a:t>
            </a:r>
            <a:endParaRPr lang="zh-CN" altLang="en-US" dirty="0">
              <a:solidFill>
                <a:srgbClr val="6A9C4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1ADB6A0B-6A3E-1044-B291-EE2F76A2FD46}"/>
              </a:ext>
            </a:extLst>
          </p:cNvPr>
          <p:cNvSpPr/>
          <p:nvPr/>
        </p:nvSpPr>
        <p:spPr>
          <a:xfrm rot="6219357">
            <a:off x="5120387" y="3298403"/>
            <a:ext cx="237766" cy="768569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1F16A1A-3125-D579-67CB-D3BAC3E0D770}"/>
              </a:ext>
            </a:extLst>
          </p:cNvPr>
          <p:cNvSpPr txBox="1"/>
          <p:nvPr/>
        </p:nvSpPr>
        <p:spPr>
          <a:xfrm>
            <a:off x="6231422" y="5444297"/>
            <a:ext cx="4720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ts val="600"/>
              </a:spcBef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altLang="zh-CN" dirty="0"/>
              <a:t>Fig.5 Architecture of the baseline Transformer–LSTM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50AA3F-1FA6-A5D9-CFC1-8904D753A1BE}"/>
              </a:ext>
            </a:extLst>
          </p:cNvPr>
          <p:cNvSpPr txBox="1"/>
          <p:nvPr/>
        </p:nvSpPr>
        <p:spPr>
          <a:xfrm>
            <a:off x="5829300" y="2338872"/>
            <a:ext cx="50306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Automatic hyperparameter searching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434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DD14-C631-919F-C01A-CF79FA2A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0EB89-2893-1855-A185-94E4A6F9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628"/>
            <a:ext cx="10515600" cy="114384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2: Case Study and Key Findings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9EBBDDE-0256-64FD-CA1C-0D8AC4700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886544"/>
              </p:ext>
            </p:extLst>
          </p:nvPr>
        </p:nvGraphicFramePr>
        <p:xfrm>
          <a:off x="2646307" y="1386472"/>
          <a:ext cx="6931646" cy="14849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6078">
                  <a:extLst>
                    <a:ext uri="{9D8B030D-6E8A-4147-A177-3AD203B41FA5}">
                      <a16:colId xmlns:a16="http://schemas.microsoft.com/office/drawing/2014/main" val="1599909216"/>
                    </a:ext>
                  </a:extLst>
                </a:gridCol>
                <a:gridCol w="3626603">
                  <a:extLst>
                    <a:ext uri="{9D8B030D-6E8A-4147-A177-3AD203B41FA5}">
                      <a16:colId xmlns:a16="http://schemas.microsoft.com/office/drawing/2014/main" val="2168738546"/>
                    </a:ext>
                  </a:extLst>
                </a:gridCol>
                <a:gridCol w="612183">
                  <a:extLst>
                    <a:ext uri="{9D8B030D-6E8A-4147-A177-3AD203B41FA5}">
                      <a16:colId xmlns:a16="http://schemas.microsoft.com/office/drawing/2014/main" val="671313745"/>
                    </a:ext>
                  </a:extLst>
                </a:gridCol>
                <a:gridCol w="1015139">
                  <a:extLst>
                    <a:ext uri="{9D8B030D-6E8A-4147-A177-3AD203B41FA5}">
                      <a16:colId xmlns:a16="http://schemas.microsoft.com/office/drawing/2014/main" val="1296864"/>
                    </a:ext>
                  </a:extLst>
                </a:gridCol>
                <a:gridCol w="1101643">
                  <a:extLst>
                    <a:ext uri="{9D8B030D-6E8A-4147-A177-3AD203B41FA5}">
                      <a16:colId xmlns:a16="http://schemas.microsoft.com/office/drawing/2014/main" val="108585393"/>
                    </a:ext>
                  </a:extLst>
                </a:gridCol>
              </a:tblGrid>
              <a:tr h="47708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</a:t>
                      </a:r>
                      <a:endParaRPr lang="en-GB" sz="1400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R²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MAE (kW)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RMSE (kW)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4734792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400" b="1" kern="100" dirty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400" b="1" kern="100" dirty="0">
                        <a:solidFill>
                          <a:schemeClr val="lt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altLang="zh-CN" sz="14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Transformer–LST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 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altLang="zh-CN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Generative YAM</a:t>
                      </a:r>
                      <a:endParaRPr lang="zh-CN" altLang="en-US" sz="1400" b="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0.5737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0.6535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1.1140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6497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400" kern="100" dirty="0"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Transformer–</a:t>
                      </a:r>
                      <a:r>
                        <a:rPr lang="en-GB" altLang="zh-CN" sz="14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LST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GB" altLang="zh-CN" sz="14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400" b="1" kern="1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CTimeGAN</a:t>
                      </a: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YAM</a:t>
                      </a:r>
                      <a:endParaRPr lang="zh-CN" sz="1400" b="1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0.7568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0.5425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0.7997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21804658"/>
                  </a:ext>
                </a:extLst>
              </a:tr>
              <a:tr h="27733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400" kern="100" dirty="0"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Transformer–LSTM </a:t>
                      </a:r>
                      <a:r>
                        <a:rPr lang="en-GB" altLang="zh-CN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Generative YAM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0.7787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0.4971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0.7629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57548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altLang="zh-CN" sz="1400" kern="100" dirty="0"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4</a:t>
                      </a:r>
                      <a:endParaRPr lang="zh-CN" sz="1400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Transformer–LSTM </a:t>
                      </a:r>
                      <a:r>
                        <a:rPr lang="it-IT" altLang="zh-CN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EAEO </a:t>
                      </a:r>
                      <a:r>
                        <a:rPr lang="en-GB" altLang="zh-CN" sz="14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Generative </a:t>
                      </a:r>
                      <a:r>
                        <a:rPr lang="en-GB" altLang="zh-CN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YAM </a:t>
                      </a: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0.8031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0.4835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0.7196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46220598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64DE9F47-7D4E-3298-5807-0A2AF70DB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8" t="16363" r="9090" b="14965"/>
          <a:stretch>
            <a:fillRect/>
          </a:stretch>
        </p:blipFill>
        <p:spPr>
          <a:xfrm>
            <a:off x="518478" y="3018299"/>
            <a:ext cx="6333393" cy="2160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A496CCD-D4A0-817B-C297-90E7863C3B26}"/>
              </a:ext>
            </a:extLst>
          </p:cNvPr>
          <p:cNvSpPr txBox="1"/>
          <p:nvPr/>
        </p:nvSpPr>
        <p:spPr>
          <a:xfrm>
            <a:off x="2026409" y="5296006"/>
            <a:ext cx="3317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spcBef>
                <a:spcPts val="600"/>
              </a:spcBef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just"/>
            <a:r>
              <a:rPr lang="en-GB" altLang="zh-CN" dirty="0"/>
              <a:t>Fig.6 </a:t>
            </a:r>
            <a:r>
              <a:rPr lang="en-US" altLang="zh-CN" dirty="0"/>
              <a:t>Model performance comparison</a:t>
            </a:r>
            <a:endParaRPr lang="zh-CN" altLang="en-US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8CF81741-C63E-9355-B95D-A63D79ED49F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101134" y="3116196"/>
            <a:ext cx="4414105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proposed framework was further validated across two PV sites, namely the main 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150 kW Ningxia PV plant in China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the external 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 kW DKASC site in Alice Springs, Australia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the DKASC results show that, the 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proposed pipeline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achieved the best performance, reducing RMSE by approximately 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35%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compared with the baseline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2BC26E-6069-AD19-5FDB-5297C706A2C7}"/>
              </a:ext>
            </a:extLst>
          </p:cNvPr>
          <p:cNvSpPr txBox="1"/>
          <p:nvPr/>
        </p:nvSpPr>
        <p:spPr>
          <a:xfrm>
            <a:off x="2156187" y="5784375"/>
            <a:ext cx="791188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just"/>
            <a:r>
              <a:rPr lang="en-US" altLang="zh-CN" b="1" dirty="0"/>
              <a:t>Overall, the proposed method converts unavailable year-ahead future weather information into reliable high-resolution renewable generation inputs for MES </a:t>
            </a:r>
            <a:r>
              <a:rPr lang="en-US" altLang="zh-CN" b="1" dirty="0" err="1"/>
              <a:t>optimisation</a:t>
            </a:r>
            <a:r>
              <a:rPr lang="en-US" altLang="zh-CN" b="1" dirty="0"/>
              <a:t> in future work.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551708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A1825-0674-E6F6-0852-F108038A3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88A9A-0696-9E77-4B21-C5955802F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628"/>
            <a:ext cx="10515600" cy="114384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LVOE Contributions: From Operation Analysis to Intelligent Protection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33E390-0DB9-6CBF-F6F0-54FC32E9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415"/>
            <a:ext cx="10515600" cy="453643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LVOE project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provides an engineering extension of the main PhD framework using practical LVAC network data provided by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SPEN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. Although it is not the core thesis stage, it is methodologically aligned with the main research, as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both focus on complex distribution network modelling, </a:t>
            </a:r>
            <a:r>
              <a:rPr lang="en-US" altLang="zh-C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, system uncertainty, and decision support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. The project forms a complete engineering chain for modern LVAC networks:</a:t>
            </a:r>
          </a:p>
          <a:p>
            <a:pPr algn="just">
              <a:lnSpc>
                <a:spcPct val="100000"/>
              </a:lnSpc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Protection problem identification: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identified the limitations of conventional overcurrent protection under distributed generation, bidirectional power flow, and dynamic fault-current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Operation–protection coupling analysis: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demonstrated through an offshore energy island case that extreme weather and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optimised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operation can reshape power flows and increase protection risk, highlighting the need for future AI-based overcurrent protection methods. </a:t>
            </a:r>
          </a:p>
          <a:p>
            <a:pPr algn="just">
              <a:lnSpc>
                <a:spcPct val="100000"/>
              </a:lnSpc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Hardware-based operation </a:t>
            </a:r>
            <a:r>
              <a:rPr lang="en-US" altLang="zh-C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investigated three types of devices for three-phase voltage-unbalance mitigation, improving the understanding of hardware-based LVAC operation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Data-driven intelligent protection: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developed a hybrid deep learning model for LVAC fault detection and classification, extending the work towards intelligent protection.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Key insight: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Modern distribution networks require integrated modelling,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and intelligent protection methods.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3D553F-E5CB-A185-706D-7A2A276CCEFE}"/>
              </a:ext>
            </a:extLst>
          </p:cNvPr>
          <p:cNvSpPr txBox="1"/>
          <p:nvPr/>
        </p:nvSpPr>
        <p:spPr>
          <a:xfrm>
            <a:off x="1632487" y="6157424"/>
            <a:ext cx="8927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“Protection insights from optimal operation of offshore energy islands under extreme weather conditions,” 19th IET Conference on Developments in Power System Protection (DPSP Europe 2025), Bilbao, Spain, 2025, pp. 240–245. </a:t>
            </a:r>
            <a:r>
              <a:rPr lang="en-US" altLang="zh-CN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: 10.1049/icp.2025.1076.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200" i="1" dirty="0">
                <a:latin typeface="Arial" panose="020B0604020202020204" pitchFamily="34" charset="0"/>
                <a:cs typeface="Arial" panose="020B0604020202020204" pitchFamily="34" charset="0"/>
              </a:rPr>
              <a:t>“Improved Fault Diagnosis for Intelligent LVAC Network Protection,” CIGRE Paris Session 2026, Full Paper accepted.</a:t>
            </a:r>
            <a:endParaRPr lang="en-GB" altLang="zh-CN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742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E9795-57D9-FABC-9AB2-439D3352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B54980-9EA9-0B35-F33E-565D7B31A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7992"/>
            <a:ext cx="10515600" cy="114384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Conclusion: A Coherent PhD Research Trajectory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89549F-428E-A28B-9716-DA4134405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415"/>
            <a:ext cx="10515600" cy="453643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 research started from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V2G-specific ADN </a:t>
            </a:r>
            <a:r>
              <a:rPr lang="en-US" altLang="zh-C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and was progressively abstracted into a broader problem of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flexibility coordination in complex energy systems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. In this process, the work evolved from local V2G operation towards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multi-energy system-level coordination and </a:t>
            </a:r>
            <a:r>
              <a:rPr lang="en-US" altLang="zh-C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Stage 1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established the Energy Hub-based MES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framework and provided the core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engine. At the same time, it revealed a key limitation: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performance strongly depends on future system inputs, such as renewable generation, demand profiles, and operating conditions.</a:t>
            </a:r>
          </a:p>
          <a:p>
            <a:pPr algn="just">
              <a:lnSpc>
                <a:spcPct val="100000"/>
              </a:lnSpc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Stage 2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has recently addressed this input-side limitation by developing a novel framework for constructing reliable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year-ahead, 15-minute PV power generation profiles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. The next step will extend this forecasting capability to other critical inputs, such as wind generation and demand, and integrate these forecasts into the MES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model to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their impacts on system operation and planning.</a:t>
            </a:r>
          </a:p>
          <a:p>
            <a:pPr algn="just">
              <a:lnSpc>
                <a:spcPct val="100000"/>
              </a:lnSpc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In parallel, the 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LVOE project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validated the practical relevance of complex distribution network modelling,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, and intelligent protection methods.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Overall, the PhD forms a coherent trajectory: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V2G flexibility → MES </a:t>
            </a:r>
            <a:r>
              <a:rPr lang="en-US" altLang="zh-CN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 → Year-ahead forecasting and extension → Forecast-driven MES operation and planning.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263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D9A42-4D2B-15C9-45BB-FC97C484C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30469-E294-6588-6722-E64B98B9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7992"/>
            <a:ext cx="10515600" cy="114384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Work: From MES </a:t>
            </a:r>
            <a:r>
              <a:rPr lang="en-US" altLang="zh-CN" sz="2800" b="1" dirty="0" err="1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Complex Engineering Systems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C27BE1-C6CE-628D-96B6-6D3EC367F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71381"/>
            <a:ext cx="10235339" cy="407148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Forecasting model extension: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expand from PV forecasting to other key MES inputs, including wind generation, demand profiles, electricity prices, and operating conditions. </a:t>
            </a:r>
          </a:p>
          <a:p>
            <a:pPr algn="just">
              <a:lnSpc>
                <a:spcPct val="100000"/>
              </a:lnSpc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Forecast-driven MES operation and planning: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integrate forecasted inputs into the MES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model to assess impacts on cost, carbon emissions, reliability, storage scheduling, and demand response. </a:t>
            </a:r>
          </a:p>
          <a:p>
            <a:pPr algn="just">
              <a:lnSpc>
                <a:spcPct val="100000"/>
              </a:lnSpc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Complex engineering applications: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test and enhance the framework under higher complexity, stronger uncertainty, and stricter operational requirements. </a:t>
            </a:r>
          </a:p>
          <a:p>
            <a:pPr algn="just">
              <a:lnSpc>
                <a:spcPct val="100000"/>
              </a:lnSpc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Target scenarios: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extend from a single Energy Hub to multi-Energy Hub coordination and high-energy-demand infrastructures such as data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centres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Key direction: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Forecast extension → Forecast-driven MES </a:t>
            </a:r>
            <a:r>
              <a:rPr lang="en-US" altLang="zh-C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 → Real-world complex energy system decision support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587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3CE9-382B-D026-1C57-0361CFBB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34D01-D10D-FAD1-2DB5-581E4C6A0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7992"/>
            <a:ext cx="10515600" cy="1143844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Work: Data Centre Energy–Computation–Cooling </a:t>
            </a:r>
            <a:r>
              <a:rPr lang="en-US" altLang="zh-CN" sz="2800" b="1" dirty="0" err="1">
                <a:solidFill>
                  <a:srgbClr val="00416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endParaRPr lang="zh-CN" altLang="en-US" sz="2800" b="1" dirty="0">
              <a:solidFill>
                <a:srgbClr val="00416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24E380-2F18-4128-4E97-E4CAC04A6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71381"/>
            <a:ext cx="10235339" cy="407148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 potential future application is 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altLang="zh-C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centre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 energy systems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where high electricity demand, intensive cooling needs, and strict reliability requirements create a more challenging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scenario.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The problem would extend from traditional MES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Energy–Computation–Cooling coupled </a:t>
            </a:r>
            <a:r>
              <a:rPr lang="en-US" altLang="zh-CN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. IT workload affects power demand and heat generation, while cooling demand depends on both server load and ambient conditions.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The existing framework can be extended using generative scenario construction, uncertainty-aware forecasting, and intelligent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optimisation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to coordinate energy supply, workload scheduling, and cooling control.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Expected outcome: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low-carbon, reliable, and flexible data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centre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operation.</a:t>
            </a:r>
          </a:p>
        </p:txBody>
      </p:sp>
    </p:spTree>
    <p:extLst>
      <p:ext uri="{BB962C8B-B14F-4D97-AF65-F5344CB8AC3E}">
        <p14:creationId xmlns:p14="http://schemas.microsoft.com/office/powerpoint/2010/main" val="141990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2680</Words>
  <Application>Microsoft Office PowerPoint</Application>
  <PresentationFormat>宽屏</PresentationFormat>
  <Paragraphs>211</Paragraphs>
  <Slides>18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等线 Light</vt:lpstr>
      <vt:lpstr>Arial</vt:lpstr>
      <vt:lpstr>Calibri</vt:lpstr>
      <vt:lpstr>Office 主题​​</vt:lpstr>
      <vt:lpstr>PowerPoint 演示文稿</vt:lpstr>
      <vt:lpstr>Initial Research Focus: V2G Flexibility for Active Distribution Networks</vt:lpstr>
      <vt:lpstr>Key Insight: V2G as a System-Dependent Flexibility Resource</vt:lpstr>
      <vt:lpstr>Integrated Research Framework: From V2G to Forecast-Driven MES Optimisation</vt:lpstr>
      <vt:lpstr>Research Outputs Supporting the PhD Framework</vt:lpstr>
      <vt:lpstr>Stage 1: MES Modelling and Optimisation</vt:lpstr>
      <vt:lpstr>Stage 1: Solutions and Methods</vt:lpstr>
      <vt:lpstr>Stage 1: Solutions and Methods</vt:lpstr>
      <vt:lpstr>Stage 1: Case Study and Key Findings</vt:lpstr>
      <vt:lpstr>Key Transition: From Optimisation Engine to Forecast-Driven Decision-Making</vt:lpstr>
      <vt:lpstr>Stage 2: Motivation</vt:lpstr>
      <vt:lpstr>Stage 2: Step 1 Generative Year-Ahead Meteorology (YAM)</vt:lpstr>
      <vt:lpstr>Stage 2: Step 2 Forecasting Model and Intelligent Hyperparameter Optimisation</vt:lpstr>
      <vt:lpstr>Stage 2: Case Study and Key Findings</vt:lpstr>
      <vt:lpstr>LVOE Contributions: From Operation Analysis to Intelligent Protection</vt:lpstr>
      <vt:lpstr>Conclusion: A Coherent PhD Research Trajectory</vt:lpstr>
      <vt:lpstr>Future Work: From MES Optimisation to Complex Engineering Systems</vt:lpstr>
      <vt:lpstr>Future Work: Data Centre Energy–Computation–Cooling Optimisation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Yue Qi (PGR)</dc:creator>
  <cp:lastModifiedBy>Yue Qi (PGR)</cp:lastModifiedBy>
  <cp:revision>338</cp:revision>
  <dcterms:created xsi:type="dcterms:W3CDTF">2026-04-29T18:58:45Z</dcterms:created>
  <dcterms:modified xsi:type="dcterms:W3CDTF">2026-05-10T23:13:10Z</dcterms:modified>
</cp:coreProperties>
</file>