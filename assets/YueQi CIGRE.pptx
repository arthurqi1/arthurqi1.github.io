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64" r:id="rId2"/>
    <p:sldId id="265" r:id="rId3"/>
  </p:sldIdLst>
  <p:sldSz cx="5143500" cy="9144000" type="screen16x9"/>
  <p:notesSz cx="7099300" cy="10234613"/>
  <p:defaultTextStyle>
    <a:defPPr>
      <a:defRPr lang="de-DE"/>
    </a:defPPr>
    <a:lvl1pPr marL="0" algn="l" defTabSz="81537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407685" algn="l" defTabSz="81537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815371" algn="l" defTabSz="81537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223056" algn="l" defTabSz="81537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1630741" algn="l" defTabSz="81537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038426" algn="l" defTabSz="81537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2446113" algn="l" defTabSz="81537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2853798" algn="l" defTabSz="81537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3261483" algn="l" defTabSz="81537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D5C"/>
    <a:srgbClr val="DE6336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7505" autoAdjust="0"/>
  </p:normalViewPr>
  <p:slideViewPr>
    <p:cSldViewPr>
      <p:cViewPr>
        <p:scale>
          <a:sx n="400" d="100"/>
          <a:sy n="400" d="100"/>
        </p:scale>
        <p:origin x="-2116" y="-8996"/>
      </p:cViewPr>
      <p:guideLst>
        <p:guide orient="horz" pos="2880"/>
        <p:guide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298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006683-64FD-4B0F-9A70-B02DFFAB3955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B2591A-4ACC-4650-A3DB-333C264214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32145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F613C9-23FC-42FA-ABE7-A214C19E8C0F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FF3890-1586-4355-8EE4-265F1B88BAC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Espace réservé de l'image des diapositives 7"/>
          <p:cNvSpPr>
            <a:spLocks noGrp="1" noRot="1" noChangeAspect="1"/>
          </p:cNvSpPr>
          <p:nvPr>
            <p:ph type="sldImg" idx="2"/>
          </p:nvPr>
        </p:nvSpPr>
        <p:spPr>
          <a:xfrm>
            <a:off x="2578100" y="1279525"/>
            <a:ext cx="194310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7389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78520" rtl="0" eaLnBrk="1" latinLnBrk="0" hangingPunct="1">
      <a:defRPr sz="234" kern="1200">
        <a:solidFill>
          <a:schemeClr val="tx1"/>
        </a:solidFill>
        <a:latin typeface="+mn-lt"/>
        <a:ea typeface="+mn-ea"/>
        <a:cs typeface="+mn-cs"/>
      </a:defRPr>
    </a:lvl1pPr>
    <a:lvl2pPr marL="89260" algn="l" defTabSz="178520" rtl="0" eaLnBrk="1" latinLnBrk="0" hangingPunct="1">
      <a:defRPr sz="234" kern="1200">
        <a:solidFill>
          <a:schemeClr val="tx1"/>
        </a:solidFill>
        <a:latin typeface="+mn-lt"/>
        <a:ea typeface="+mn-ea"/>
        <a:cs typeface="+mn-cs"/>
      </a:defRPr>
    </a:lvl2pPr>
    <a:lvl3pPr marL="178520" algn="l" defTabSz="178520" rtl="0" eaLnBrk="1" latinLnBrk="0" hangingPunct="1">
      <a:defRPr sz="234" kern="1200">
        <a:solidFill>
          <a:schemeClr val="tx1"/>
        </a:solidFill>
        <a:latin typeface="+mn-lt"/>
        <a:ea typeface="+mn-ea"/>
        <a:cs typeface="+mn-cs"/>
      </a:defRPr>
    </a:lvl3pPr>
    <a:lvl4pPr marL="267779" algn="l" defTabSz="178520" rtl="0" eaLnBrk="1" latinLnBrk="0" hangingPunct="1">
      <a:defRPr sz="234" kern="1200">
        <a:solidFill>
          <a:schemeClr val="tx1"/>
        </a:solidFill>
        <a:latin typeface="+mn-lt"/>
        <a:ea typeface="+mn-ea"/>
        <a:cs typeface="+mn-cs"/>
      </a:defRPr>
    </a:lvl4pPr>
    <a:lvl5pPr marL="357040" algn="l" defTabSz="178520" rtl="0" eaLnBrk="1" latinLnBrk="0" hangingPunct="1">
      <a:defRPr sz="234" kern="1200">
        <a:solidFill>
          <a:schemeClr val="tx1"/>
        </a:solidFill>
        <a:latin typeface="+mn-lt"/>
        <a:ea typeface="+mn-ea"/>
        <a:cs typeface="+mn-cs"/>
      </a:defRPr>
    </a:lvl5pPr>
    <a:lvl6pPr marL="446298" algn="l" defTabSz="178520" rtl="0" eaLnBrk="1" latinLnBrk="0" hangingPunct="1">
      <a:defRPr sz="234" kern="1200">
        <a:solidFill>
          <a:schemeClr val="tx1"/>
        </a:solidFill>
        <a:latin typeface="+mn-lt"/>
        <a:ea typeface="+mn-ea"/>
        <a:cs typeface="+mn-cs"/>
      </a:defRPr>
    </a:lvl6pPr>
    <a:lvl7pPr marL="535559" algn="l" defTabSz="178520" rtl="0" eaLnBrk="1" latinLnBrk="0" hangingPunct="1">
      <a:defRPr sz="234" kern="1200">
        <a:solidFill>
          <a:schemeClr val="tx1"/>
        </a:solidFill>
        <a:latin typeface="+mn-lt"/>
        <a:ea typeface="+mn-ea"/>
        <a:cs typeface="+mn-cs"/>
      </a:defRPr>
    </a:lvl7pPr>
    <a:lvl8pPr marL="624818" algn="l" defTabSz="178520" rtl="0" eaLnBrk="1" latinLnBrk="0" hangingPunct="1">
      <a:defRPr sz="234" kern="1200">
        <a:solidFill>
          <a:schemeClr val="tx1"/>
        </a:solidFill>
        <a:latin typeface="+mn-lt"/>
        <a:ea typeface="+mn-ea"/>
        <a:cs typeface="+mn-cs"/>
      </a:defRPr>
    </a:lvl8pPr>
    <a:lvl9pPr marL="714079" algn="l" defTabSz="178520" rtl="0" eaLnBrk="1" latinLnBrk="0" hangingPunct="1">
      <a:defRPr sz="23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23137-16C7-09B8-47BE-6D3603C44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9A726EA-7143-B684-774C-66C2CED023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B27E75F-7C2E-DE19-7823-0452B19E2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70EC1F-9A23-32EC-6CBD-A0BB18699C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FF3890-1586-4355-8EE4-265F1B88BAC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0218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F50EE-1356-DE25-65F7-5637EBCAC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C5F563-7A6C-4240-A346-828F6B435C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DF5EDC2-32E0-50A0-4451-59DB8A3EE0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014FCD-205A-A675-7405-112B3A64C9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FF3890-1586-4355-8EE4-265F1B88BAC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2848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58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57175" y="366184"/>
            <a:ext cx="4629150" cy="1524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57175" y="2133607"/>
            <a:ext cx="4629150" cy="603461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257175" y="8475139"/>
            <a:ext cx="1200150" cy="486833"/>
          </a:xfrm>
          <a:prstGeom prst="rect">
            <a:avLst/>
          </a:prstGeom>
        </p:spPr>
        <p:txBody>
          <a:bodyPr/>
          <a:lstStyle/>
          <a:p>
            <a:fld id="{E35FAD59-EE49-4D16-8EC0-7461D9445668}" type="datetimeFigureOut">
              <a:rPr lang="de-DE" smtClean="0"/>
              <a:pPr/>
              <a:t>17.06.2026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1757367" y="8475139"/>
            <a:ext cx="1628775" cy="486833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3686175" y="8475139"/>
            <a:ext cx="1200150" cy="486833"/>
          </a:xfrm>
          <a:prstGeom prst="rect">
            <a:avLst/>
          </a:prstGeom>
        </p:spPr>
        <p:txBody>
          <a:bodyPr/>
          <a:lstStyle/>
          <a:p>
            <a:fld id="{79590B73-D678-4437-BD6A-C05970EA384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8276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06305" y="5875868"/>
            <a:ext cx="4371975" cy="1816100"/>
          </a:xfrm>
          <a:prstGeom prst="rect">
            <a:avLst/>
          </a:prstGeom>
        </p:spPr>
        <p:txBody>
          <a:bodyPr anchor="t"/>
          <a:lstStyle>
            <a:lvl1pPr algn="l">
              <a:defRPr sz="3109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06305" y="3875624"/>
            <a:ext cx="4371975" cy="200024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46">
                <a:solidFill>
                  <a:schemeClr val="tx1">
                    <a:tint val="75000"/>
                  </a:schemeClr>
                </a:solidFill>
              </a:defRPr>
            </a:lvl1pPr>
            <a:lvl2pPr marL="354811" indent="0">
              <a:buNone/>
              <a:defRPr sz="1393">
                <a:solidFill>
                  <a:schemeClr val="tx1">
                    <a:tint val="75000"/>
                  </a:schemeClr>
                </a:solidFill>
              </a:defRPr>
            </a:lvl2pPr>
            <a:lvl3pPr marL="709621" indent="0">
              <a:buNone/>
              <a:defRPr sz="1240">
                <a:solidFill>
                  <a:schemeClr val="tx1">
                    <a:tint val="75000"/>
                  </a:schemeClr>
                </a:solidFill>
              </a:defRPr>
            </a:lvl3pPr>
            <a:lvl4pPr marL="1064431" indent="0">
              <a:buNone/>
              <a:defRPr sz="1087">
                <a:solidFill>
                  <a:schemeClr val="tx1">
                    <a:tint val="75000"/>
                  </a:schemeClr>
                </a:solidFill>
              </a:defRPr>
            </a:lvl4pPr>
            <a:lvl5pPr marL="1419242" indent="0">
              <a:buNone/>
              <a:defRPr sz="1087">
                <a:solidFill>
                  <a:schemeClr val="tx1">
                    <a:tint val="75000"/>
                  </a:schemeClr>
                </a:solidFill>
              </a:defRPr>
            </a:lvl5pPr>
            <a:lvl6pPr marL="1774053" indent="0">
              <a:buNone/>
              <a:defRPr sz="1087">
                <a:solidFill>
                  <a:schemeClr val="tx1">
                    <a:tint val="75000"/>
                  </a:schemeClr>
                </a:solidFill>
              </a:defRPr>
            </a:lvl6pPr>
            <a:lvl7pPr marL="2128863" indent="0">
              <a:buNone/>
              <a:defRPr sz="1087">
                <a:solidFill>
                  <a:schemeClr val="tx1">
                    <a:tint val="75000"/>
                  </a:schemeClr>
                </a:solidFill>
              </a:defRPr>
            </a:lvl7pPr>
            <a:lvl8pPr marL="2483673" indent="0">
              <a:buNone/>
              <a:defRPr sz="1087">
                <a:solidFill>
                  <a:schemeClr val="tx1">
                    <a:tint val="75000"/>
                  </a:schemeClr>
                </a:solidFill>
              </a:defRPr>
            </a:lvl8pPr>
            <a:lvl9pPr marL="2838484" indent="0">
              <a:buNone/>
              <a:defRPr sz="108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257175" y="8475139"/>
            <a:ext cx="1200150" cy="486833"/>
          </a:xfrm>
          <a:prstGeom prst="rect">
            <a:avLst/>
          </a:prstGeom>
        </p:spPr>
        <p:txBody>
          <a:bodyPr/>
          <a:lstStyle/>
          <a:p>
            <a:fld id="{E35FAD59-EE49-4D16-8EC0-7461D9445668}" type="datetimeFigureOut">
              <a:rPr lang="de-DE" smtClean="0"/>
              <a:pPr/>
              <a:t>17.06.2026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1757367" y="8475139"/>
            <a:ext cx="1628775" cy="486833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3686175" y="8475139"/>
            <a:ext cx="1200150" cy="486833"/>
          </a:xfrm>
          <a:prstGeom prst="rect">
            <a:avLst/>
          </a:prstGeom>
        </p:spPr>
        <p:txBody>
          <a:bodyPr/>
          <a:lstStyle/>
          <a:p>
            <a:fld id="{79590B73-D678-4437-BD6A-C05970EA384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42173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57175" y="366184"/>
            <a:ext cx="4629150" cy="1524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51893" y="13318067"/>
            <a:ext cx="7621488" cy="37668200"/>
          </a:xfrm>
          <a:prstGeom prst="rect">
            <a:avLst/>
          </a:prstGeom>
        </p:spPr>
        <p:txBody>
          <a:bodyPr/>
          <a:lstStyle>
            <a:lvl1pPr>
              <a:defRPr sz="2175"/>
            </a:lvl1pPr>
            <a:lvl2pPr>
              <a:defRPr sz="1869"/>
            </a:lvl2pPr>
            <a:lvl3pPr>
              <a:defRPr sz="1546"/>
            </a:lvl3pPr>
            <a:lvl4pPr>
              <a:defRPr sz="1393"/>
            </a:lvl4pPr>
            <a:lvl5pPr>
              <a:defRPr sz="1393"/>
            </a:lvl5pPr>
            <a:lvl6pPr>
              <a:defRPr sz="1393"/>
            </a:lvl6pPr>
            <a:lvl7pPr>
              <a:defRPr sz="1393"/>
            </a:lvl7pPr>
            <a:lvl8pPr>
              <a:defRPr sz="1393"/>
            </a:lvl8pPr>
            <a:lvl9pPr>
              <a:defRPr sz="139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559106" y="13318067"/>
            <a:ext cx="7621488" cy="37668200"/>
          </a:xfrm>
          <a:prstGeom prst="rect">
            <a:avLst/>
          </a:prstGeom>
        </p:spPr>
        <p:txBody>
          <a:bodyPr/>
          <a:lstStyle>
            <a:lvl1pPr>
              <a:defRPr sz="2175"/>
            </a:lvl1pPr>
            <a:lvl2pPr>
              <a:defRPr sz="1869"/>
            </a:lvl2pPr>
            <a:lvl3pPr>
              <a:defRPr sz="1546"/>
            </a:lvl3pPr>
            <a:lvl4pPr>
              <a:defRPr sz="1393"/>
            </a:lvl4pPr>
            <a:lvl5pPr>
              <a:defRPr sz="1393"/>
            </a:lvl5pPr>
            <a:lvl6pPr>
              <a:defRPr sz="1393"/>
            </a:lvl6pPr>
            <a:lvl7pPr>
              <a:defRPr sz="1393"/>
            </a:lvl7pPr>
            <a:lvl8pPr>
              <a:defRPr sz="1393"/>
            </a:lvl8pPr>
            <a:lvl9pPr>
              <a:defRPr sz="139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257175" y="8475139"/>
            <a:ext cx="1200150" cy="486833"/>
          </a:xfrm>
          <a:prstGeom prst="rect">
            <a:avLst/>
          </a:prstGeom>
        </p:spPr>
        <p:txBody>
          <a:bodyPr/>
          <a:lstStyle/>
          <a:p>
            <a:fld id="{E35FAD59-EE49-4D16-8EC0-7461D9445668}" type="datetimeFigureOut">
              <a:rPr lang="de-DE" smtClean="0"/>
              <a:pPr/>
              <a:t>17.06.2026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1757367" y="8475139"/>
            <a:ext cx="1628775" cy="486833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3686175" y="8475139"/>
            <a:ext cx="1200150" cy="486833"/>
          </a:xfrm>
          <a:prstGeom prst="rect">
            <a:avLst/>
          </a:prstGeom>
        </p:spPr>
        <p:txBody>
          <a:bodyPr/>
          <a:lstStyle/>
          <a:p>
            <a:fld id="{79590B73-D678-4437-BD6A-C05970EA384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4455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57175" y="366184"/>
            <a:ext cx="4629150" cy="152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57175" y="2046818"/>
            <a:ext cx="2272606" cy="85301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69" b="1"/>
            </a:lvl1pPr>
            <a:lvl2pPr marL="354811" indent="0">
              <a:buNone/>
              <a:defRPr sz="1546" b="1"/>
            </a:lvl2pPr>
            <a:lvl3pPr marL="709621" indent="0">
              <a:buNone/>
              <a:defRPr sz="1393" b="1"/>
            </a:lvl3pPr>
            <a:lvl4pPr marL="1064431" indent="0">
              <a:buNone/>
              <a:defRPr sz="1240" b="1"/>
            </a:lvl4pPr>
            <a:lvl5pPr marL="1419242" indent="0">
              <a:buNone/>
              <a:defRPr sz="1240" b="1"/>
            </a:lvl5pPr>
            <a:lvl6pPr marL="1774053" indent="0">
              <a:buNone/>
              <a:defRPr sz="1240" b="1"/>
            </a:lvl6pPr>
            <a:lvl7pPr marL="2128863" indent="0">
              <a:buNone/>
              <a:defRPr sz="1240" b="1"/>
            </a:lvl7pPr>
            <a:lvl8pPr marL="2483673" indent="0">
              <a:buNone/>
              <a:defRPr sz="1240" b="1"/>
            </a:lvl8pPr>
            <a:lvl9pPr marL="2838484" indent="0">
              <a:buNone/>
              <a:defRPr sz="124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257175" y="2899833"/>
            <a:ext cx="2272606" cy="5268384"/>
          </a:xfrm>
          <a:prstGeom prst="rect">
            <a:avLst/>
          </a:prstGeom>
        </p:spPr>
        <p:txBody>
          <a:bodyPr/>
          <a:lstStyle>
            <a:lvl1pPr>
              <a:defRPr sz="1869"/>
            </a:lvl1pPr>
            <a:lvl2pPr>
              <a:defRPr sz="1546"/>
            </a:lvl2pPr>
            <a:lvl3pPr>
              <a:defRPr sz="1393"/>
            </a:lvl3pPr>
            <a:lvl4pPr>
              <a:defRPr sz="1240"/>
            </a:lvl4pPr>
            <a:lvl5pPr>
              <a:defRPr sz="1240"/>
            </a:lvl5pPr>
            <a:lvl6pPr>
              <a:defRPr sz="1240"/>
            </a:lvl6pPr>
            <a:lvl7pPr>
              <a:defRPr sz="1240"/>
            </a:lvl7pPr>
            <a:lvl8pPr>
              <a:defRPr sz="1240"/>
            </a:lvl8pPr>
            <a:lvl9pPr>
              <a:defRPr sz="124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2612829" y="2046818"/>
            <a:ext cx="2273499" cy="85301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69" b="1"/>
            </a:lvl1pPr>
            <a:lvl2pPr marL="354811" indent="0">
              <a:buNone/>
              <a:defRPr sz="1546" b="1"/>
            </a:lvl2pPr>
            <a:lvl3pPr marL="709621" indent="0">
              <a:buNone/>
              <a:defRPr sz="1393" b="1"/>
            </a:lvl3pPr>
            <a:lvl4pPr marL="1064431" indent="0">
              <a:buNone/>
              <a:defRPr sz="1240" b="1"/>
            </a:lvl4pPr>
            <a:lvl5pPr marL="1419242" indent="0">
              <a:buNone/>
              <a:defRPr sz="1240" b="1"/>
            </a:lvl5pPr>
            <a:lvl6pPr marL="1774053" indent="0">
              <a:buNone/>
              <a:defRPr sz="1240" b="1"/>
            </a:lvl6pPr>
            <a:lvl7pPr marL="2128863" indent="0">
              <a:buNone/>
              <a:defRPr sz="1240" b="1"/>
            </a:lvl7pPr>
            <a:lvl8pPr marL="2483673" indent="0">
              <a:buNone/>
              <a:defRPr sz="1240" b="1"/>
            </a:lvl8pPr>
            <a:lvl9pPr marL="2838484" indent="0">
              <a:buNone/>
              <a:defRPr sz="124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2612829" y="2899833"/>
            <a:ext cx="2273499" cy="5268384"/>
          </a:xfrm>
          <a:prstGeom prst="rect">
            <a:avLst/>
          </a:prstGeom>
        </p:spPr>
        <p:txBody>
          <a:bodyPr/>
          <a:lstStyle>
            <a:lvl1pPr>
              <a:defRPr sz="1869"/>
            </a:lvl1pPr>
            <a:lvl2pPr>
              <a:defRPr sz="1546"/>
            </a:lvl2pPr>
            <a:lvl3pPr>
              <a:defRPr sz="1393"/>
            </a:lvl3pPr>
            <a:lvl4pPr>
              <a:defRPr sz="1240"/>
            </a:lvl4pPr>
            <a:lvl5pPr>
              <a:defRPr sz="1240"/>
            </a:lvl5pPr>
            <a:lvl6pPr>
              <a:defRPr sz="1240"/>
            </a:lvl6pPr>
            <a:lvl7pPr>
              <a:defRPr sz="1240"/>
            </a:lvl7pPr>
            <a:lvl8pPr>
              <a:defRPr sz="1240"/>
            </a:lvl8pPr>
            <a:lvl9pPr>
              <a:defRPr sz="124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>
          <a:xfrm>
            <a:off x="257175" y="8475139"/>
            <a:ext cx="1200150" cy="486833"/>
          </a:xfrm>
          <a:prstGeom prst="rect">
            <a:avLst/>
          </a:prstGeom>
        </p:spPr>
        <p:txBody>
          <a:bodyPr/>
          <a:lstStyle/>
          <a:p>
            <a:fld id="{E35FAD59-EE49-4D16-8EC0-7461D9445668}" type="datetimeFigureOut">
              <a:rPr lang="de-DE" smtClean="0"/>
              <a:pPr/>
              <a:t>17.06.2026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>
          <a:xfrm>
            <a:off x="1757367" y="8475139"/>
            <a:ext cx="1628775" cy="486833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>
          <a:xfrm>
            <a:off x="3686175" y="8475139"/>
            <a:ext cx="1200150" cy="486833"/>
          </a:xfrm>
          <a:prstGeom prst="rect">
            <a:avLst/>
          </a:prstGeom>
        </p:spPr>
        <p:txBody>
          <a:bodyPr/>
          <a:lstStyle/>
          <a:p>
            <a:fld id="{79590B73-D678-4437-BD6A-C05970EA384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8323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57175" y="366184"/>
            <a:ext cx="4629150" cy="1524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>
          <a:xfrm>
            <a:off x="257175" y="8475139"/>
            <a:ext cx="1200150" cy="486833"/>
          </a:xfrm>
          <a:prstGeom prst="rect">
            <a:avLst/>
          </a:prstGeom>
        </p:spPr>
        <p:txBody>
          <a:bodyPr/>
          <a:lstStyle/>
          <a:p>
            <a:fld id="{E35FAD59-EE49-4D16-8EC0-7461D9445668}" type="datetimeFigureOut">
              <a:rPr lang="de-DE" smtClean="0"/>
              <a:pPr/>
              <a:t>17.06.2026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1757367" y="8475139"/>
            <a:ext cx="1628775" cy="486833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3686175" y="8475139"/>
            <a:ext cx="1200150" cy="486833"/>
          </a:xfrm>
          <a:prstGeom prst="rect">
            <a:avLst/>
          </a:prstGeom>
        </p:spPr>
        <p:txBody>
          <a:bodyPr/>
          <a:lstStyle/>
          <a:p>
            <a:fld id="{79590B73-D678-4437-BD6A-C05970EA384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7630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>
          <a:xfrm>
            <a:off x="257175" y="8475139"/>
            <a:ext cx="1200150" cy="486833"/>
          </a:xfrm>
          <a:prstGeom prst="rect">
            <a:avLst/>
          </a:prstGeom>
        </p:spPr>
        <p:txBody>
          <a:bodyPr/>
          <a:lstStyle/>
          <a:p>
            <a:fld id="{E35FAD59-EE49-4D16-8EC0-7461D9445668}" type="datetimeFigureOut">
              <a:rPr lang="de-DE" smtClean="0"/>
              <a:pPr/>
              <a:t>17.06.2026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1757367" y="8475139"/>
            <a:ext cx="1628775" cy="486833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3686175" y="8475139"/>
            <a:ext cx="1200150" cy="486833"/>
          </a:xfrm>
          <a:prstGeom prst="rect">
            <a:avLst/>
          </a:prstGeom>
        </p:spPr>
        <p:txBody>
          <a:bodyPr/>
          <a:lstStyle/>
          <a:p>
            <a:fld id="{79590B73-D678-4437-BD6A-C05970EA384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215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57175" y="364067"/>
            <a:ext cx="1692176" cy="1549400"/>
          </a:xfrm>
          <a:prstGeom prst="rect">
            <a:avLst/>
          </a:prstGeom>
        </p:spPr>
        <p:txBody>
          <a:bodyPr anchor="b"/>
          <a:lstStyle>
            <a:lvl1pPr algn="l">
              <a:defRPr sz="1546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010970" y="364071"/>
            <a:ext cx="2875359" cy="7804151"/>
          </a:xfrm>
          <a:prstGeom prst="rect">
            <a:avLst/>
          </a:prstGeom>
        </p:spPr>
        <p:txBody>
          <a:bodyPr/>
          <a:lstStyle>
            <a:lvl1pPr>
              <a:defRPr sz="2481"/>
            </a:lvl1pPr>
            <a:lvl2pPr>
              <a:defRPr sz="2175"/>
            </a:lvl2pPr>
            <a:lvl3pPr>
              <a:defRPr sz="1869"/>
            </a:lvl3pPr>
            <a:lvl4pPr>
              <a:defRPr sz="1546"/>
            </a:lvl4pPr>
            <a:lvl5pPr>
              <a:defRPr sz="1546"/>
            </a:lvl5pPr>
            <a:lvl6pPr>
              <a:defRPr sz="1546"/>
            </a:lvl6pPr>
            <a:lvl7pPr>
              <a:defRPr sz="1546"/>
            </a:lvl7pPr>
            <a:lvl8pPr>
              <a:defRPr sz="1546"/>
            </a:lvl8pPr>
            <a:lvl9pPr>
              <a:defRPr sz="1546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57175" y="1913473"/>
            <a:ext cx="1692176" cy="62547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87"/>
            </a:lvl1pPr>
            <a:lvl2pPr marL="354811" indent="0">
              <a:buNone/>
              <a:defRPr sz="934"/>
            </a:lvl2pPr>
            <a:lvl3pPr marL="709621" indent="0">
              <a:buNone/>
              <a:defRPr sz="782"/>
            </a:lvl3pPr>
            <a:lvl4pPr marL="1064431" indent="0">
              <a:buNone/>
              <a:defRPr sz="697"/>
            </a:lvl4pPr>
            <a:lvl5pPr marL="1419242" indent="0">
              <a:buNone/>
              <a:defRPr sz="697"/>
            </a:lvl5pPr>
            <a:lvl6pPr marL="1774053" indent="0">
              <a:buNone/>
              <a:defRPr sz="697"/>
            </a:lvl6pPr>
            <a:lvl7pPr marL="2128863" indent="0">
              <a:buNone/>
              <a:defRPr sz="697"/>
            </a:lvl7pPr>
            <a:lvl8pPr marL="2483673" indent="0">
              <a:buNone/>
              <a:defRPr sz="697"/>
            </a:lvl8pPr>
            <a:lvl9pPr marL="2838484" indent="0">
              <a:buNone/>
              <a:defRPr sz="697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257175" y="8475139"/>
            <a:ext cx="1200150" cy="486833"/>
          </a:xfrm>
          <a:prstGeom prst="rect">
            <a:avLst/>
          </a:prstGeom>
        </p:spPr>
        <p:txBody>
          <a:bodyPr/>
          <a:lstStyle/>
          <a:p>
            <a:fld id="{E35FAD59-EE49-4D16-8EC0-7461D9445668}" type="datetimeFigureOut">
              <a:rPr lang="de-DE" smtClean="0"/>
              <a:pPr/>
              <a:t>17.06.2026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1757367" y="8475139"/>
            <a:ext cx="1628775" cy="486833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3686175" y="8475139"/>
            <a:ext cx="1200150" cy="486833"/>
          </a:xfrm>
          <a:prstGeom prst="rect">
            <a:avLst/>
          </a:prstGeom>
        </p:spPr>
        <p:txBody>
          <a:bodyPr/>
          <a:lstStyle/>
          <a:p>
            <a:fld id="{79590B73-D678-4437-BD6A-C05970EA384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5653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08162" y="6400805"/>
            <a:ext cx="3086100" cy="755651"/>
          </a:xfrm>
          <a:prstGeom prst="rect">
            <a:avLst/>
          </a:prstGeom>
        </p:spPr>
        <p:txBody>
          <a:bodyPr anchor="b"/>
          <a:lstStyle>
            <a:lvl1pPr algn="l">
              <a:defRPr sz="1546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008162" y="817033"/>
            <a:ext cx="3086100" cy="5486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81"/>
            </a:lvl1pPr>
            <a:lvl2pPr marL="354811" indent="0">
              <a:buNone/>
              <a:defRPr sz="2175"/>
            </a:lvl2pPr>
            <a:lvl3pPr marL="709621" indent="0">
              <a:buNone/>
              <a:defRPr sz="1869"/>
            </a:lvl3pPr>
            <a:lvl4pPr marL="1064431" indent="0">
              <a:buNone/>
              <a:defRPr sz="1546"/>
            </a:lvl4pPr>
            <a:lvl5pPr marL="1419242" indent="0">
              <a:buNone/>
              <a:defRPr sz="1546"/>
            </a:lvl5pPr>
            <a:lvl6pPr marL="1774053" indent="0">
              <a:buNone/>
              <a:defRPr sz="1546"/>
            </a:lvl6pPr>
            <a:lvl7pPr marL="2128863" indent="0">
              <a:buNone/>
              <a:defRPr sz="1546"/>
            </a:lvl7pPr>
            <a:lvl8pPr marL="2483673" indent="0">
              <a:buNone/>
              <a:defRPr sz="1546"/>
            </a:lvl8pPr>
            <a:lvl9pPr marL="2838484" indent="0">
              <a:buNone/>
              <a:defRPr sz="1546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008162" y="7156457"/>
            <a:ext cx="3086100" cy="10731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87"/>
            </a:lvl1pPr>
            <a:lvl2pPr marL="354811" indent="0">
              <a:buNone/>
              <a:defRPr sz="934"/>
            </a:lvl2pPr>
            <a:lvl3pPr marL="709621" indent="0">
              <a:buNone/>
              <a:defRPr sz="782"/>
            </a:lvl3pPr>
            <a:lvl4pPr marL="1064431" indent="0">
              <a:buNone/>
              <a:defRPr sz="697"/>
            </a:lvl4pPr>
            <a:lvl5pPr marL="1419242" indent="0">
              <a:buNone/>
              <a:defRPr sz="697"/>
            </a:lvl5pPr>
            <a:lvl6pPr marL="1774053" indent="0">
              <a:buNone/>
              <a:defRPr sz="697"/>
            </a:lvl6pPr>
            <a:lvl7pPr marL="2128863" indent="0">
              <a:buNone/>
              <a:defRPr sz="697"/>
            </a:lvl7pPr>
            <a:lvl8pPr marL="2483673" indent="0">
              <a:buNone/>
              <a:defRPr sz="697"/>
            </a:lvl8pPr>
            <a:lvl9pPr marL="2838484" indent="0">
              <a:buNone/>
              <a:defRPr sz="697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257175" y="8475139"/>
            <a:ext cx="1200150" cy="486833"/>
          </a:xfrm>
          <a:prstGeom prst="rect">
            <a:avLst/>
          </a:prstGeom>
        </p:spPr>
        <p:txBody>
          <a:bodyPr/>
          <a:lstStyle/>
          <a:p>
            <a:fld id="{E35FAD59-EE49-4D16-8EC0-7461D9445668}" type="datetimeFigureOut">
              <a:rPr lang="de-DE" smtClean="0"/>
              <a:pPr/>
              <a:t>17.06.2026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1757367" y="8475139"/>
            <a:ext cx="1628775" cy="486833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3686175" y="8475139"/>
            <a:ext cx="1200150" cy="486833"/>
          </a:xfrm>
          <a:prstGeom prst="rect">
            <a:avLst/>
          </a:prstGeom>
        </p:spPr>
        <p:txBody>
          <a:bodyPr/>
          <a:lstStyle/>
          <a:p>
            <a:fld id="{79590B73-D678-4437-BD6A-C05970EA384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8821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57175" y="366184"/>
            <a:ext cx="4629150" cy="1524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257175" y="2133607"/>
            <a:ext cx="4629150" cy="603461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257175" y="8475139"/>
            <a:ext cx="1200150" cy="486833"/>
          </a:xfrm>
          <a:prstGeom prst="rect">
            <a:avLst/>
          </a:prstGeom>
        </p:spPr>
        <p:txBody>
          <a:bodyPr/>
          <a:lstStyle/>
          <a:p>
            <a:fld id="{E35FAD59-EE49-4D16-8EC0-7461D9445668}" type="datetimeFigureOut">
              <a:rPr lang="de-DE" smtClean="0"/>
              <a:pPr/>
              <a:t>17.06.2026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1757367" y="8475139"/>
            <a:ext cx="1628775" cy="486833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3686175" y="8475139"/>
            <a:ext cx="1200150" cy="486833"/>
          </a:xfrm>
          <a:prstGeom prst="rect">
            <a:avLst/>
          </a:prstGeom>
        </p:spPr>
        <p:txBody>
          <a:bodyPr/>
          <a:lstStyle/>
          <a:p>
            <a:fld id="{79590B73-D678-4437-BD6A-C05970EA384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4385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12348867" y="2286006"/>
            <a:ext cx="3831729" cy="48700267"/>
          </a:xfrm>
          <a:prstGeom prst="rect">
            <a:avLst/>
          </a:prstGeo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51893" y="2286006"/>
            <a:ext cx="11411248" cy="4870026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257175" y="8475139"/>
            <a:ext cx="1200150" cy="486833"/>
          </a:xfrm>
          <a:prstGeom prst="rect">
            <a:avLst/>
          </a:prstGeom>
        </p:spPr>
        <p:txBody>
          <a:bodyPr/>
          <a:lstStyle/>
          <a:p>
            <a:fld id="{E35FAD59-EE49-4D16-8EC0-7461D9445668}" type="datetimeFigureOut">
              <a:rPr lang="de-DE" smtClean="0"/>
              <a:pPr/>
              <a:t>17.06.2026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1757367" y="8475139"/>
            <a:ext cx="1628775" cy="486833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3686175" y="8475139"/>
            <a:ext cx="1200150" cy="486833"/>
          </a:xfrm>
          <a:prstGeom prst="rect">
            <a:avLst/>
          </a:prstGeom>
        </p:spPr>
        <p:txBody>
          <a:bodyPr/>
          <a:lstStyle/>
          <a:p>
            <a:fld id="{79590B73-D678-4437-BD6A-C05970EA3844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144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s://session.cigre.org/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 userDrawn="1"/>
        </p:nvSpPr>
        <p:spPr>
          <a:xfrm>
            <a:off x="3507854" y="8780803"/>
            <a:ext cx="1436830" cy="249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19" dirty="0">
                <a:solidFill>
                  <a:srgbClr val="008D5C"/>
                </a:solidFill>
                <a:latin typeface="+mj-lt"/>
                <a:hlinkClick r:id="rId13"/>
              </a:rPr>
              <a:t>2026 Paris Session</a:t>
            </a:r>
            <a:r>
              <a:rPr lang="de-DE" sz="1019" dirty="0">
                <a:solidFill>
                  <a:srgbClr val="008D5C"/>
                </a:solidFill>
                <a:latin typeface="+mj-lt"/>
              </a:rPr>
              <a:t> </a:t>
            </a:r>
          </a:p>
        </p:txBody>
      </p:sp>
      <p:sp>
        <p:nvSpPr>
          <p:cNvPr id="3" name="Espace réservé du titre 2"/>
          <p:cNvSpPr>
            <a:spLocks noGrp="1"/>
          </p:cNvSpPr>
          <p:nvPr>
            <p:ph type="title"/>
          </p:nvPr>
        </p:nvSpPr>
        <p:spPr>
          <a:xfrm>
            <a:off x="353527" y="486939"/>
            <a:ext cx="4436451" cy="17673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1FA253E-7ACC-40D1-6CBE-BBA629FD3DEA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5143500" cy="551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95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09621" rtl="0" eaLnBrk="1" latinLnBrk="0" hangingPunct="1">
        <a:spcBef>
          <a:spcPct val="0"/>
        </a:spcBef>
        <a:buNone/>
        <a:defRPr sz="34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6108" indent="-266108" algn="l" defTabSz="709621" rtl="0" eaLnBrk="1" latinLnBrk="0" hangingPunct="1">
        <a:spcBef>
          <a:spcPct val="20000"/>
        </a:spcBef>
        <a:buFont typeface="Arial" pitchFamily="34" charset="0"/>
        <a:buChar char="•"/>
        <a:defRPr sz="2481" kern="1200">
          <a:solidFill>
            <a:schemeClr val="tx1"/>
          </a:solidFill>
          <a:latin typeface="+mn-lt"/>
          <a:ea typeface="+mn-ea"/>
          <a:cs typeface="+mn-cs"/>
        </a:defRPr>
      </a:lvl1pPr>
      <a:lvl2pPr marL="576567" indent="-221756" algn="l" defTabSz="709621" rtl="0" eaLnBrk="1" latinLnBrk="0" hangingPunct="1">
        <a:spcBef>
          <a:spcPct val="20000"/>
        </a:spcBef>
        <a:buFont typeface="Arial" pitchFamily="34" charset="0"/>
        <a:buChar char="–"/>
        <a:defRPr sz="2175" kern="1200">
          <a:solidFill>
            <a:schemeClr val="tx1"/>
          </a:solidFill>
          <a:latin typeface="+mn-lt"/>
          <a:ea typeface="+mn-ea"/>
          <a:cs typeface="+mn-cs"/>
        </a:defRPr>
      </a:lvl2pPr>
      <a:lvl3pPr marL="887026" indent="-177405" algn="l" defTabSz="709621" rtl="0" eaLnBrk="1" latinLnBrk="0" hangingPunct="1">
        <a:spcBef>
          <a:spcPct val="20000"/>
        </a:spcBef>
        <a:buFont typeface="Arial" pitchFamily="34" charset="0"/>
        <a:buChar char="•"/>
        <a:defRPr sz="1869" kern="1200">
          <a:solidFill>
            <a:schemeClr val="tx1"/>
          </a:solidFill>
          <a:latin typeface="+mn-lt"/>
          <a:ea typeface="+mn-ea"/>
          <a:cs typeface="+mn-cs"/>
        </a:defRPr>
      </a:lvl3pPr>
      <a:lvl4pPr marL="1241836" indent="-177405" algn="l" defTabSz="709621" rtl="0" eaLnBrk="1" latinLnBrk="0" hangingPunct="1">
        <a:spcBef>
          <a:spcPct val="20000"/>
        </a:spcBef>
        <a:buFont typeface="Arial" pitchFamily="34" charset="0"/>
        <a:buChar char="–"/>
        <a:defRPr sz="1546" kern="1200">
          <a:solidFill>
            <a:schemeClr val="tx1"/>
          </a:solidFill>
          <a:latin typeface="+mn-lt"/>
          <a:ea typeface="+mn-ea"/>
          <a:cs typeface="+mn-cs"/>
        </a:defRPr>
      </a:lvl4pPr>
      <a:lvl5pPr marL="1596647" indent="-177405" algn="l" defTabSz="709621" rtl="0" eaLnBrk="1" latinLnBrk="0" hangingPunct="1">
        <a:spcBef>
          <a:spcPct val="20000"/>
        </a:spcBef>
        <a:buFont typeface="Arial" pitchFamily="34" charset="0"/>
        <a:buChar char="»"/>
        <a:defRPr sz="1546" kern="1200">
          <a:solidFill>
            <a:schemeClr val="tx1"/>
          </a:solidFill>
          <a:latin typeface="+mn-lt"/>
          <a:ea typeface="+mn-ea"/>
          <a:cs typeface="+mn-cs"/>
        </a:defRPr>
      </a:lvl5pPr>
      <a:lvl6pPr marL="1951458" indent="-177405" algn="l" defTabSz="709621" rtl="0" eaLnBrk="1" latinLnBrk="0" hangingPunct="1">
        <a:spcBef>
          <a:spcPct val="20000"/>
        </a:spcBef>
        <a:buFont typeface="Arial" pitchFamily="34" charset="0"/>
        <a:buChar char="•"/>
        <a:defRPr sz="1546" kern="1200">
          <a:solidFill>
            <a:schemeClr val="tx1"/>
          </a:solidFill>
          <a:latin typeface="+mn-lt"/>
          <a:ea typeface="+mn-ea"/>
          <a:cs typeface="+mn-cs"/>
        </a:defRPr>
      </a:lvl6pPr>
      <a:lvl7pPr marL="2306268" indent="-177405" algn="l" defTabSz="709621" rtl="0" eaLnBrk="1" latinLnBrk="0" hangingPunct="1">
        <a:spcBef>
          <a:spcPct val="20000"/>
        </a:spcBef>
        <a:buFont typeface="Arial" pitchFamily="34" charset="0"/>
        <a:buChar char="•"/>
        <a:defRPr sz="1546" kern="1200">
          <a:solidFill>
            <a:schemeClr val="tx1"/>
          </a:solidFill>
          <a:latin typeface="+mn-lt"/>
          <a:ea typeface="+mn-ea"/>
          <a:cs typeface="+mn-cs"/>
        </a:defRPr>
      </a:lvl7pPr>
      <a:lvl8pPr marL="2661078" indent="-177405" algn="l" defTabSz="709621" rtl="0" eaLnBrk="1" latinLnBrk="0" hangingPunct="1">
        <a:spcBef>
          <a:spcPct val="20000"/>
        </a:spcBef>
        <a:buFont typeface="Arial" pitchFamily="34" charset="0"/>
        <a:buChar char="•"/>
        <a:defRPr sz="1546" kern="1200">
          <a:solidFill>
            <a:schemeClr val="tx1"/>
          </a:solidFill>
          <a:latin typeface="+mn-lt"/>
          <a:ea typeface="+mn-ea"/>
          <a:cs typeface="+mn-cs"/>
        </a:defRPr>
      </a:lvl8pPr>
      <a:lvl9pPr marL="3015889" indent="-177405" algn="l" defTabSz="709621" rtl="0" eaLnBrk="1" latinLnBrk="0" hangingPunct="1">
        <a:spcBef>
          <a:spcPct val="20000"/>
        </a:spcBef>
        <a:buFont typeface="Arial" pitchFamily="34" charset="0"/>
        <a:buChar char="•"/>
        <a:defRPr sz="15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709621" rtl="0" eaLnBrk="1" latinLnBrk="0" hangingPunct="1">
        <a:defRPr sz="1393" kern="1200">
          <a:solidFill>
            <a:schemeClr val="tx1"/>
          </a:solidFill>
          <a:latin typeface="+mn-lt"/>
          <a:ea typeface="+mn-ea"/>
          <a:cs typeface="+mn-cs"/>
        </a:defRPr>
      </a:lvl1pPr>
      <a:lvl2pPr marL="354811" algn="l" defTabSz="709621" rtl="0" eaLnBrk="1" latinLnBrk="0" hangingPunct="1">
        <a:defRPr sz="1393" kern="1200">
          <a:solidFill>
            <a:schemeClr val="tx1"/>
          </a:solidFill>
          <a:latin typeface="+mn-lt"/>
          <a:ea typeface="+mn-ea"/>
          <a:cs typeface="+mn-cs"/>
        </a:defRPr>
      </a:lvl2pPr>
      <a:lvl3pPr marL="709621" algn="l" defTabSz="709621" rtl="0" eaLnBrk="1" latinLnBrk="0" hangingPunct="1">
        <a:defRPr sz="1393" kern="1200">
          <a:solidFill>
            <a:schemeClr val="tx1"/>
          </a:solidFill>
          <a:latin typeface="+mn-lt"/>
          <a:ea typeface="+mn-ea"/>
          <a:cs typeface="+mn-cs"/>
        </a:defRPr>
      </a:lvl3pPr>
      <a:lvl4pPr marL="1064431" algn="l" defTabSz="709621" rtl="0" eaLnBrk="1" latinLnBrk="0" hangingPunct="1">
        <a:defRPr sz="1393" kern="1200">
          <a:solidFill>
            <a:schemeClr val="tx1"/>
          </a:solidFill>
          <a:latin typeface="+mn-lt"/>
          <a:ea typeface="+mn-ea"/>
          <a:cs typeface="+mn-cs"/>
        </a:defRPr>
      </a:lvl4pPr>
      <a:lvl5pPr marL="1419242" algn="l" defTabSz="709621" rtl="0" eaLnBrk="1" latinLnBrk="0" hangingPunct="1">
        <a:defRPr sz="1393" kern="1200">
          <a:solidFill>
            <a:schemeClr val="tx1"/>
          </a:solidFill>
          <a:latin typeface="+mn-lt"/>
          <a:ea typeface="+mn-ea"/>
          <a:cs typeface="+mn-cs"/>
        </a:defRPr>
      </a:lvl5pPr>
      <a:lvl6pPr marL="1774053" algn="l" defTabSz="709621" rtl="0" eaLnBrk="1" latinLnBrk="0" hangingPunct="1">
        <a:defRPr sz="1393" kern="1200">
          <a:solidFill>
            <a:schemeClr val="tx1"/>
          </a:solidFill>
          <a:latin typeface="+mn-lt"/>
          <a:ea typeface="+mn-ea"/>
          <a:cs typeface="+mn-cs"/>
        </a:defRPr>
      </a:lvl6pPr>
      <a:lvl7pPr marL="2128863" algn="l" defTabSz="709621" rtl="0" eaLnBrk="1" latinLnBrk="0" hangingPunct="1">
        <a:defRPr sz="1393" kern="1200">
          <a:solidFill>
            <a:schemeClr val="tx1"/>
          </a:solidFill>
          <a:latin typeface="+mn-lt"/>
          <a:ea typeface="+mn-ea"/>
          <a:cs typeface="+mn-cs"/>
        </a:defRPr>
      </a:lvl7pPr>
      <a:lvl8pPr marL="2483673" algn="l" defTabSz="709621" rtl="0" eaLnBrk="1" latinLnBrk="0" hangingPunct="1">
        <a:defRPr sz="1393" kern="1200">
          <a:solidFill>
            <a:schemeClr val="tx1"/>
          </a:solidFill>
          <a:latin typeface="+mn-lt"/>
          <a:ea typeface="+mn-ea"/>
          <a:cs typeface="+mn-cs"/>
        </a:defRPr>
      </a:lvl8pPr>
      <a:lvl9pPr marL="2838484" algn="l" defTabSz="709621" rtl="0" eaLnBrk="1" latinLnBrk="0" hangingPunct="1">
        <a:defRPr sz="139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6.png"/><Relationship Id="rId10" Type="http://schemas.openxmlformats.org/officeDocument/2006/relationships/image" Target="../media/image14.png"/><Relationship Id="rId4" Type="http://schemas.openxmlformats.org/officeDocument/2006/relationships/image" Target="../media/image5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B13D8-0FC7-14E8-DE9C-21A9E146B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37C2BAAF-6798-8797-D7AB-3F14447E612B}"/>
              </a:ext>
            </a:extLst>
          </p:cNvPr>
          <p:cNvSpPr txBox="1"/>
          <p:nvPr/>
        </p:nvSpPr>
        <p:spPr>
          <a:xfrm>
            <a:off x="614688" y="2195614"/>
            <a:ext cx="3914118" cy="432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4" b="1" noProof="0" dirty="0">
                <a:latin typeface="+mj-lt"/>
              </a:rPr>
              <a:t>An Improved AI-Driven LVAC Network Fault Detection and Classification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67F5E313-12B0-E39B-E441-298D293DA05F}"/>
                  </a:ext>
                </a:extLst>
              </p:cNvPr>
              <p:cNvSpPr txBox="1"/>
              <p:nvPr/>
            </p:nvSpPr>
            <p:spPr>
              <a:xfrm>
                <a:off x="244078" y="3170552"/>
                <a:ext cx="2189460" cy="2112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GB" sz="1000" b="1" noProof="0" dirty="0"/>
                  <a:t>Motivation</a:t>
                </a:r>
              </a:p>
              <a:p>
                <a:pPr algn="just">
                  <a:spcBef>
                    <a:spcPts val="510"/>
                  </a:spcBef>
                  <a:defRPr/>
                </a:pPr>
                <a:r>
                  <a:rPr lang="en-GB" sz="680" noProof="0" dirty="0"/>
                  <a:t>The increasing integration of low-carbon technologies (LCTs), including PV, EVs and BESS, is reshaping LVAC fault behaviour through bidirectional power flows, inverter-limited fault currents, phase imbalance and control-driven transients. These effects challenge conventional fixed-threshold overcurrent protection.</a:t>
                </a:r>
              </a:p>
              <a:p>
                <a:pPr algn="just">
                  <a:spcBef>
                    <a:spcPts val="510"/>
                  </a:spcBef>
                  <a:defRPr/>
                </a:pPr>
                <a:r>
                  <a:rPr lang="en-GB" sz="680" noProof="0" dirty="0"/>
                  <a:t>Although fault detection and classification (FDC) has been widely investigated in transmission-level, medium-voltage and DC networks, dedicated studies for LCT-integrated LVAC feeders remain limited, particularly under practical monitoring constraints, noisy measurements and high-impedance fault conditions.</a:t>
                </a:r>
              </a:p>
              <a:p>
                <a:pPr algn="just">
                  <a:spcBef>
                    <a:spcPts val="510"/>
                  </a:spcBef>
                  <a:defRPr/>
                </a:pPr>
                <a:r>
                  <a:rPr lang="en-GB" sz="680" noProof="0" dirty="0"/>
                  <a:t>This study aims to enhance LVAC fault detection and classification using a robust CNN-LSTM-Transformer framework based on limited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680" noProof="0" smtClean="0"/>
                        </m:ctrlPr>
                      </m:sSubPr>
                      <m:e>
                        <m:r>
                          <a:rPr lang="en-GB" sz="680" noProof="0" smtClean="0"/>
                          <m:t>𝑉</m:t>
                        </m:r>
                      </m:e>
                      <m:sub>
                        <m:r>
                          <a:rPr lang="en-GB" sz="680" noProof="0" smtClean="0"/>
                          <m:t>𝑎𝑏𝑐</m:t>
                        </m:r>
                      </m:sub>
                    </m:sSub>
                  </m:oMath>
                </a14:m>
                <a:r>
                  <a:rPr lang="en-GB" sz="680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680" noProof="0" smtClean="0"/>
                        </m:ctrlPr>
                      </m:sSubPr>
                      <m:e>
                        <m:r>
                          <a:rPr lang="en-GB" sz="680" noProof="0" smtClean="0"/>
                          <m:t>𝐼</m:t>
                        </m:r>
                      </m:e>
                      <m:sub>
                        <m:r>
                          <a:rPr lang="en-GB" sz="680" noProof="0" smtClean="0"/>
                          <m:t>𝑎𝑏𝑐</m:t>
                        </m:r>
                      </m:sub>
                    </m:sSub>
                  </m:oMath>
                </a14:m>
                <a:r>
                  <a:rPr lang="en-GB" sz="680" noProof="0" dirty="0"/>
                  <a:t> measurements.</a:t>
                </a:r>
              </a:p>
            </p:txBody>
          </p:sp>
        </mc:Choice>
        <mc:Fallback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67F5E313-12B0-E39B-E441-298D293DA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078" y="3170552"/>
                <a:ext cx="2189460" cy="2112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feld 12">
            <a:extLst>
              <a:ext uri="{FF2B5EF4-FFF2-40B4-BE49-F238E27FC236}">
                <a16:creationId xmlns:a16="http://schemas.microsoft.com/office/drawing/2014/main" id="{D046CCE6-5A72-6E1E-E8AF-D55022FFAD67}"/>
              </a:ext>
            </a:extLst>
          </p:cNvPr>
          <p:cNvSpPr txBox="1"/>
          <p:nvPr/>
        </p:nvSpPr>
        <p:spPr>
          <a:xfrm>
            <a:off x="2739876" y="3169239"/>
            <a:ext cx="2189460" cy="627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000" b="1" noProof="0" dirty="0"/>
              <a:t>Method/Approach</a:t>
            </a:r>
          </a:p>
          <a:p>
            <a:pPr algn="just">
              <a:spcBef>
                <a:spcPts val="510"/>
              </a:spcBef>
            </a:pPr>
            <a:r>
              <a:rPr lang="en-GB" sz="680" noProof="0" dirty="0"/>
              <a:t>Recent FDC approaches are summarised to clarify the methodological gap and motivate the proposed hybrid architecture.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A95AA6F7-CAE2-72FB-897E-CC4712BDD986}"/>
                  </a:ext>
                </a:extLst>
              </p:cNvPr>
              <p:cNvSpPr txBox="1"/>
              <p:nvPr/>
            </p:nvSpPr>
            <p:spPr>
              <a:xfrm>
                <a:off x="244078" y="5292080"/>
                <a:ext cx="2189460" cy="23892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GB" sz="1000" b="1" noProof="0" dirty="0"/>
                  <a:t>Objects of investigation</a:t>
                </a:r>
              </a:p>
              <a:p>
                <a:pPr algn="just">
                  <a:spcBef>
                    <a:spcPts val="510"/>
                  </a:spcBef>
                  <a:defRPr/>
                </a:pPr>
                <a:r>
                  <a:rPr lang="en-GB" sz="680" noProof="0" dirty="0"/>
                  <a:t>A UK suburban LVAC distribution network is modelled in MATLAB/Simulink using core network data provided by SP Energy Networks (SPEN). The system is supplied by a 20 kV/400 V transformer and configured as a 400/230 V, 50 Hz, three-phase four-wire network with a solidly grounded neutral.</a:t>
                </a:r>
              </a:p>
              <a:p>
                <a:pPr algn="just">
                  <a:spcBef>
                    <a:spcPts val="510"/>
                  </a:spcBef>
                  <a:defRPr/>
                </a:pPr>
                <a:r>
                  <a:rPr lang="en-GB" sz="680" noProof="0" dirty="0"/>
                  <a:t>The feeder includes mixed three-phase and single-phase loads, together with a 25 kW PV-BESS unit connected via a power-electronic interface, representing phase imbalance, inverter-interfaced dynamics and altered fault-current behaviour.</a:t>
                </a:r>
              </a:p>
              <a:p>
                <a:pPr algn="just">
                  <a:spcBef>
                    <a:spcPts val="510"/>
                  </a:spcBef>
                  <a:defRPr/>
                </a:pPr>
                <a:r>
                  <a:rPr lang="en-GB" sz="680" noProof="0" dirty="0"/>
                  <a:t>A single feeder-head measurement point records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680" noProof="0" smtClean="0"/>
                        </m:ctrlPr>
                      </m:sSubPr>
                      <m:e>
                        <m:r>
                          <a:rPr lang="en-GB" sz="680" noProof="0" smtClean="0"/>
                          <m:t>𝑉</m:t>
                        </m:r>
                      </m:e>
                      <m:sub>
                        <m:r>
                          <a:rPr lang="en-GB" sz="680" noProof="0" smtClean="0"/>
                          <m:t>𝑎𝑏𝑐</m:t>
                        </m:r>
                      </m:sub>
                    </m:sSub>
                  </m:oMath>
                </a14:m>
                <a:r>
                  <a:rPr lang="en-GB" sz="680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680" noProof="0" smtClean="0"/>
                        </m:ctrlPr>
                      </m:sSubPr>
                      <m:e>
                        <m:r>
                          <a:rPr lang="en-GB" sz="680" noProof="0" smtClean="0"/>
                          <m:t>𝐼</m:t>
                        </m:r>
                      </m:e>
                      <m:sub>
                        <m:r>
                          <a:rPr lang="en-GB" sz="680" noProof="0" smtClean="0"/>
                          <m:t>𝑎𝑏𝑐</m:t>
                        </m:r>
                      </m:sub>
                    </m:sSub>
                  </m:oMath>
                </a14:m>
                <a:r>
                  <a:rPr lang="en-GB" sz="680" noProof="0" dirty="0"/>
                  <a:t> as the sole input for FDC, reflecting practical LV monitoring constraints.</a:t>
                </a:r>
              </a:p>
              <a:p>
                <a:pPr algn="just">
                  <a:spcBef>
                    <a:spcPts val="510"/>
                  </a:spcBef>
                  <a:defRPr/>
                </a:pPr>
                <a:r>
                  <a:rPr lang="en-GB" sz="680" noProof="0" dirty="0"/>
                  <a:t>Test scenarios cover LG, LL, LLG and LLL faults across Nodes 1–8, downstream HIFs with 50 Ω and 100 Ω resistance, and noise-contaminated measurements for robustness assessment.</a:t>
                </a:r>
              </a:p>
            </p:txBody>
          </p:sp>
        </mc:Choice>
        <mc:Fallback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A95AA6F7-CAE2-72FB-897E-CC4712BDD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078" y="5292080"/>
                <a:ext cx="2189460" cy="23892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feld 10">
            <a:extLst>
              <a:ext uri="{FF2B5EF4-FFF2-40B4-BE49-F238E27FC236}">
                <a16:creationId xmlns:a16="http://schemas.microsoft.com/office/drawing/2014/main" id="{6685550C-D81D-2A8C-5925-B8E070ED4612}"/>
              </a:ext>
            </a:extLst>
          </p:cNvPr>
          <p:cNvSpPr txBox="1"/>
          <p:nvPr/>
        </p:nvSpPr>
        <p:spPr>
          <a:xfrm>
            <a:off x="1593219" y="1547650"/>
            <a:ext cx="1957059" cy="444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2"/>
              </a:spcBef>
            </a:pPr>
            <a:r>
              <a:rPr lang="en-GB" sz="1359" noProof="0" dirty="0">
                <a:solidFill>
                  <a:srgbClr val="DE6336"/>
                </a:solidFill>
                <a:latin typeface="+mj-lt"/>
              </a:rPr>
              <a:t>Study Committee B5</a:t>
            </a:r>
          </a:p>
          <a:p>
            <a:pPr algn="ctr">
              <a:spcBef>
                <a:spcPts val="102"/>
              </a:spcBef>
              <a:defRPr/>
            </a:pPr>
            <a:r>
              <a:rPr lang="en-GB" sz="849" noProof="0" dirty="0">
                <a:solidFill>
                  <a:srgbClr val="DE6336"/>
                </a:solidFill>
              </a:rPr>
              <a:t>PROTECTION AND AUTOMATION</a:t>
            </a:r>
          </a:p>
        </p:txBody>
      </p:sp>
      <p:sp>
        <p:nvSpPr>
          <p:cNvPr id="14" name="Textfeld 10">
            <a:extLst>
              <a:ext uri="{FF2B5EF4-FFF2-40B4-BE49-F238E27FC236}">
                <a16:creationId xmlns:a16="http://schemas.microsoft.com/office/drawing/2014/main" id="{9406D38A-51DA-5336-3BE4-91A25D776D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3354" y="1953941"/>
            <a:ext cx="2256787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8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8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8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8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8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175125" eaLnBrk="0" fontAlgn="base" hangingPunct="0">
              <a:spcBef>
                <a:spcPct val="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175125" eaLnBrk="0" fontAlgn="base" hangingPunct="0">
              <a:spcBef>
                <a:spcPct val="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175125" eaLnBrk="0" fontAlgn="base" hangingPunct="0">
              <a:spcBef>
                <a:spcPct val="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175125" eaLnBrk="0" fontAlgn="base" hangingPunct="0">
              <a:spcBef>
                <a:spcPct val="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ts val="102"/>
              </a:spcBef>
            </a:pPr>
            <a:r>
              <a:rPr lang="en-GB" sz="1019" noProof="0" dirty="0">
                <a:solidFill>
                  <a:srgbClr val="DE6336"/>
                </a:solidFill>
                <a:latin typeface="Calibri" pitchFamily="34" charset="0"/>
              </a:rPr>
              <a:t>Paper ID: 12071 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C81D509-1640-5354-66C9-9EC60AD761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643942"/>
              </p:ext>
            </p:extLst>
          </p:nvPr>
        </p:nvGraphicFramePr>
        <p:xfrm>
          <a:off x="1076528" y="2638268"/>
          <a:ext cx="2990437" cy="489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4138">
                  <a:extLst>
                    <a:ext uri="{9D8B030D-6E8A-4147-A177-3AD203B41FA5}">
                      <a16:colId xmlns:a16="http://schemas.microsoft.com/office/drawing/2014/main" val="717104258"/>
                    </a:ext>
                  </a:extLst>
                </a:gridCol>
                <a:gridCol w="617025">
                  <a:extLst>
                    <a:ext uri="{9D8B030D-6E8A-4147-A177-3AD203B41FA5}">
                      <a16:colId xmlns:a16="http://schemas.microsoft.com/office/drawing/2014/main" val="3328240180"/>
                    </a:ext>
                  </a:extLst>
                </a:gridCol>
                <a:gridCol w="686875">
                  <a:extLst>
                    <a:ext uri="{9D8B030D-6E8A-4147-A177-3AD203B41FA5}">
                      <a16:colId xmlns:a16="http://schemas.microsoft.com/office/drawing/2014/main" val="2519341637"/>
                    </a:ext>
                  </a:extLst>
                </a:gridCol>
                <a:gridCol w="275712">
                  <a:extLst>
                    <a:ext uri="{9D8B030D-6E8A-4147-A177-3AD203B41FA5}">
                      <a16:colId xmlns:a16="http://schemas.microsoft.com/office/drawing/2014/main" val="1092745209"/>
                    </a:ext>
                  </a:extLst>
                </a:gridCol>
                <a:gridCol w="321750">
                  <a:extLst>
                    <a:ext uri="{9D8B030D-6E8A-4147-A177-3AD203B41FA5}">
                      <a16:colId xmlns:a16="http://schemas.microsoft.com/office/drawing/2014/main" val="4263943812"/>
                    </a:ext>
                  </a:extLst>
                </a:gridCol>
                <a:gridCol w="402712">
                  <a:extLst>
                    <a:ext uri="{9D8B030D-6E8A-4147-A177-3AD203B41FA5}">
                      <a16:colId xmlns:a16="http://schemas.microsoft.com/office/drawing/2014/main" val="3773186223"/>
                    </a:ext>
                  </a:extLst>
                </a:gridCol>
                <a:gridCol w="312225">
                  <a:extLst>
                    <a:ext uri="{9D8B030D-6E8A-4147-A177-3AD203B41FA5}">
                      <a16:colId xmlns:a16="http://schemas.microsoft.com/office/drawing/2014/main" val="1870689133"/>
                    </a:ext>
                  </a:extLst>
                </a:gridCol>
              </a:tblGrid>
              <a:tr h="95763">
                <a:tc>
                  <a:txBody>
                    <a:bodyPr/>
                    <a:lstStyle/>
                    <a:p>
                      <a:pPr marL="0" algn="ctr" defTabSz="709621" rtl="0" eaLnBrk="1" latinLnBrk="0" hangingPunct="1"/>
                      <a:r>
                        <a:rPr lang="en-GB" sz="500" b="1" kern="1200" noProof="0" dirty="0">
                          <a:solidFill>
                            <a:schemeClr val="tx1"/>
                          </a:solidFill>
                        </a:rPr>
                        <a:t>James YU</a:t>
                      </a:r>
                      <a:r>
                        <a:rPr lang="en-GB" sz="500" b="1" kern="1200" baseline="30000" noProof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GB" sz="500" b="1" kern="1200" baseline="30000" noProof="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000" marR="18000" marT="0" marB="36000" anchor="ctr"/>
                </a:tc>
                <a:tc>
                  <a:txBody>
                    <a:bodyPr/>
                    <a:lstStyle/>
                    <a:p>
                      <a:pPr marL="0" algn="ctr" defTabSz="709621" rtl="0" eaLnBrk="1" latinLnBrk="0" hangingPunct="1"/>
                      <a:r>
                        <a:rPr lang="en-GB" sz="500" b="1" kern="1200" noProof="0" dirty="0">
                          <a:solidFill>
                            <a:schemeClr val="tx1"/>
                          </a:solidFill>
                        </a:rPr>
                        <a:t>Francisco FILGUEIRA</a:t>
                      </a:r>
                      <a:r>
                        <a:rPr lang="en-GB" sz="500" b="1" kern="1200" baseline="30000" noProof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GB" sz="500" b="1" kern="1200" baseline="30000" noProof="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000" marR="18000" marT="0" marB="36000" anchor="ctr"/>
                </a:tc>
                <a:tc>
                  <a:txBody>
                    <a:bodyPr/>
                    <a:lstStyle/>
                    <a:p>
                      <a:pPr marL="0" algn="ctr" defTabSz="709621" rtl="0" eaLnBrk="1" latinLnBrk="0" hangingPunct="1"/>
                      <a:r>
                        <a:rPr lang="en-GB" sz="500" b="1" kern="1200" noProof="0" dirty="0" err="1">
                          <a:solidFill>
                            <a:schemeClr val="tx1"/>
                          </a:solidFill>
                        </a:rPr>
                        <a:t>Mikaelle</a:t>
                      </a:r>
                      <a:r>
                        <a:rPr lang="en-GB" sz="500" b="1" kern="1200" noProof="0" dirty="0">
                          <a:solidFill>
                            <a:schemeClr val="tx1"/>
                          </a:solidFill>
                        </a:rPr>
                        <a:t> DINIZ</a:t>
                      </a:r>
                      <a:r>
                        <a:rPr lang="en-GB" sz="500" b="1" kern="1200" baseline="30000" noProof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GB" sz="500" b="1" kern="1200" baseline="30000" noProof="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000" marR="18000" marT="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7096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00" b="1" kern="1200" noProof="0" dirty="0">
                          <a:solidFill>
                            <a:schemeClr val="tx1"/>
                          </a:solidFill>
                        </a:rPr>
                        <a:t>Yue QI</a:t>
                      </a:r>
                      <a:r>
                        <a:rPr lang="en-GB" sz="500" b="1" kern="1200" baseline="30000" noProof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GB" sz="500" b="1" kern="1200" baseline="30000" noProof="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000" marR="18000" marT="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7096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00" b="1" kern="1200" noProof="0" dirty="0">
                          <a:solidFill>
                            <a:schemeClr val="tx1"/>
                          </a:solidFill>
                        </a:rPr>
                        <a:t>Jiwei LI</a:t>
                      </a:r>
                      <a:r>
                        <a:rPr lang="en-GB" sz="500" b="1" kern="1200" baseline="30000" noProof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GB" sz="500" b="1" kern="1200" baseline="30000" noProof="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000" marR="18000" marT="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7096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00" b="1" kern="1200" noProof="0" dirty="0" err="1">
                          <a:solidFill>
                            <a:schemeClr val="tx1"/>
                          </a:solidFill>
                        </a:rPr>
                        <a:t>Miaorui</a:t>
                      </a:r>
                      <a:r>
                        <a:rPr lang="en-GB" sz="500" b="1" kern="1200" noProof="0" dirty="0">
                          <a:solidFill>
                            <a:schemeClr val="tx1"/>
                          </a:solidFill>
                        </a:rPr>
                        <a:t> MA</a:t>
                      </a:r>
                      <a:r>
                        <a:rPr lang="en-GB" sz="500" b="1" kern="1200" baseline="30000" noProof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GB" sz="500" b="1" kern="1200" baseline="30000" noProof="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000" marR="18000" marT="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7096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00" b="1" kern="1200" noProof="0" dirty="0">
                          <a:solidFill>
                            <a:schemeClr val="tx1"/>
                          </a:solidFill>
                        </a:rPr>
                        <a:t>Jin YANG</a:t>
                      </a:r>
                      <a:r>
                        <a:rPr lang="en-GB" sz="500" b="1" kern="1200" baseline="30000" noProof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GB" sz="500" b="1" kern="1200" baseline="30000" noProof="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000" marR="18000" marT="0" marB="36000" anchor="ctr"/>
                </a:tc>
                <a:extLst>
                  <a:ext uri="{0D108BD9-81ED-4DB2-BD59-A6C34878D82A}">
                    <a16:rowId xmlns:a16="http://schemas.microsoft.com/office/drawing/2014/main" val="3566017970"/>
                  </a:ext>
                </a:extLst>
              </a:tr>
              <a:tr h="121071">
                <a:tc>
                  <a:txBody>
                    <a:bodyPr/>
                    <a:lstStyle/>
                    <a:p>
                      <a:pPr marL="0" algn="ctr" defTabSz="709621" rtl="0" eaLnBrk="1" latinLnBrk="0" hangingPunct="1"/>
                      <a:r>
                        <a:rPr lang="en-GB" sz="500" b="1" kern="1200" baseline="30000" noProof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GB" sz="500" b="1" kern="1200" noProof="0" dirty="0">
                          <a:solidFill>
                            <a:schemeClr val="tx1"/>
                          </a:solidFill>
                        </a:rPr>
                        <a:t>CIGRE UK</a:t>
                      </a:r>
                      <a:endParaRPr lang="en-GB" sz="500" b="1" kern="1200" baseline="30000" noProof="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000" marR="18000" marT="0" marB="36000" anchor="ctr"/>
                </a:tc>
                <a:tc>
                  <a:txBody>
                    <a:bodyPr/>
                    <a:lstStyle/>
                    <a:p>
                      <a:pPr marL="0" algn="ctr" defTabSz="709621" rtl="0" eaLnBrk="1" latinLnBrk="0" hangingPunct="1"/>
                      <a:r>
                        <a:rPr lang="en-GB" sz="500" b="1" kern="1200" baseline="30000" noProof="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GB" sz="500" b="1" kern="1200" noProof="0" dirty="0">
                          <a:solidFill>
                            <a:schemeClr val="tx1"/>
                          </a:solidFill>
                        </a:rPr>
                        <a:t>CIGRE SPAIN</a:t>
                      </a:r>
                      <a:endParaRPr lang="en-GB" sz="500" b="1" kern="1200" baseline="30000" noProof="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000" marR="18000" marT="0" marB="36000" anchor="ctr"/>
                </a:tc>
                <a:tc>
                  <a:txBody>
                    <a:bodyPr/>
                    <a:lstStyle/>
                    <a:p>
                      <a:pPr marL="0" algn="ctr" defTabSz="709621" rtl="0" eaLnBrk="1" latinLnBrk="0" hangingPunct="1"/>
                      <a:r>
                        <a:rPr lang="en-GB" sz="500" b="1" kern="1200" baseline="30000" noProof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GB" sz="500" b="1" kern="1200" noProof="0" dirty="0">
                          <a:solidFill>
                            <a:schemeClr val="tx1"/>
                          </a:solidFill>
                        </a:rPr>
                        <a:t>Scottish Power Energy </a:t>
                      </a:r>
                    </a:p>
                    <a:p>
                      <a:pPr marL="0" algn="ctr" defTabSz="709621" rtl="0" eaLnBrk="1" latinLnBrk="0" hangingPunct="1"/>
                      <a:r>
                        <a:rPr lang="en-GB" sz="500" b="1" kern="1200" noProof="0" dirty="0">
                          <a:solidFill>
                            <a:schemeClr val="tx1"/>
                          </a:solidFill>
                        </a:rPr>
                        <a:t>Networks UK</a:t>
                      </a:r>
                      <a:endParaRPr lang="en-GB" sz="500" b="1" kern="1200" baseline="30000" noProof="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000" marR="18000" marT="0" marB="36000" anchor="ctr"/>
                </a:tc>
                <a:tc gridSpan="4">
                  <a:txBody>
                    <a:bodyPr/>
                    <a:lstStyle/>
                    <a:p>
                      <a:pPr marL="0" marR="0" lvl="0" indent="0" algn="ctr" defTabSz="7096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00" b="1" kern="1200" baseline="30000" noProof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en-GB" sz="500" b="1" kern="1200" noProof="0" dirty="0">
                          <a:solidFill>
                            <a:schemeClr val="tx1"/>
                          </a:solidFill>
                        </a:rPr>
                        <a:t>University of Glasgow UK</a:t>
                      </a:r>
                      <a:endParaRPr lang="en-GB" sz="500" b="1" kern="1200" baseline="30000" noProof="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000" marR="18000" marT="0" marB="36000" anchor="ctr"/>
                </a:tc>
                <a:tc hMerge="1">
                  <a:txBody>
                    <a:bodyPr/>
                    <a:lstStyle/>
                    <a:p>
                      <a:endParaRPr lang="zh-CN" altLang="en-US" sz="510" dirty="0">
                        <a:latin typeface="+mj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sz="510" dirty="0">
                        <a:latin typeface="+mj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sz="51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5305958"/>
                  </a:ext>
                </a:extLst>
              </a:tr>
              <a:tr h="87958">
                <a:tc>
                  <a:txBody>
                    <a:bodyPr/>
                    <a:lstStyle/>
                    <a:p>
                      <a:pPr marL="0" algn="ctr" defTabSz="709621" rtl="0" eaLnBrk="1" latinLnBrk="0" hangingPunct="1"/>
                      <a:r>
                        <a:rPr lang="en-GB" sz="500" kern="1200" noProof="0" dirty="0" err="1">
                          <a:solidFill>
                            <a:schemeClr val="tx1"/>
                          </a:solidFill>
                        </a:rPr>
                        <a:t>yugem</a:t>
                      </a:r>
                      <a:r>
                        <a:rPr lang="en-GB" sz="500" kern="1200" noProof="0" dirty="0">
                          <a:solidFill>
                            <a:schemeClr val="tx1"/>
                          </a:solidFill>
                        </a:rPr>
                        <a:t>@</a:t>
                      </a:r>
                    </a:p>
                    <a:p>
                      <a:pPr marL="0" algn="ctr" defTabSz="709621" rtl="0" eaLnBrk="1" latinLnBrk="0" hangingPunct="1"/>
                      <a:r>
                        <a:rPr lang="en-GB" sz="500" kern="1200" noProof="0" dirty="0">
                          <a:solidFill>
                            <a:schemeClr val="tx1"/>
                          </a:solidFill>
                        </a:rPr>
                        <a:t>hotmail.com</a:t>
                      </a:r>
                      <a:endParaRPr lang="en-GB" sz="500" kern="1200" noProof="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000" marR="18000" marT="0" marB="36000" anchor="ctr"/>
                </a:tc>
                <a:tc>
                  <a:txBody>
                    <a:bodyPr/>
                    <a:lstStyle/>
                    <a:p>
                      <a:pPr marL="0" algn="ctr" defTabSz="709621" rtl="0" eaLnBrk="1" latinLnBrk="0" hangingPunct="1"/>
                      <a:r>
                        <a:rPr lang="en-GB" sz="500" kern="1200" noProof="0" dirty="0" err="1">
                          <a:solidFill>
                            <a:schemeClr val="tx1"/>
                          </a:solidFill>
                        </a:rPr>
                        <a:t>patxi.pazos</a:t>
                      </a:r>
                      <a:r>
                        <a:rPr lang="en-GB" sz="500" kern="1200" noProof="0" dirty="0">
                          <a:solidFill>
                            <a:schemeClr val="tx1"/>
                          </a:solidFill>
                        </a:rPr>
                        <a:t>@</a:t>
                      </a:r>
                    </a:p>
                    <a:p>
                      <a:pPr marL="0" algn="ctr" defTabSz="709621" rtl="0" eaLnBrk="1" latinLnBrk="0" hangingPunct="1"/>
                      <a:r>
                        <a:rPr lang="en-GB" sz="500" kern="1200" noProof="0" dirty="0">
                          <a:solidFill>
                            <a:schemeClr val="tx1"/>
                          </a:solidFill>
                        </a:rPr>
                        <a:t>yahoo.com</a:t>
                      </a:r>
                      <a:endParaRPr lang="en-GB" sz="500" kern="1200" noProof="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000" marR="18000" marT="0" marB="36000" anchor="ctr"/>
                </a:tc>
                <a:tc>
                  <a:txBody>
                    <a:bodyPr/>
                    <a:lstStyle/>
                    <a:p>
                      <a:pPr marL="0" algn="ctr" defTabSz="709621" rtl="0" eaLnBrk="1" latinLnBrk="0" hangingPunct="1"/>
                      <a:r>
                        <a:rPr lang="en-GB" sz="500" kern="1200" noProof="0" dirty="0" err="1">
                          <a:solidFill>
                            <a:schemeClr val="tx1"/>
                          </a:solidFill>
                        </a:rPr>
                        <a:t>mlopes</a:t>
                      </a:r>
                      <a:r>
                        <a:rPr lang="en-GB" sz="500" kern="1200" noProof="0" dirty="0">
                          <a:solidFill>
                            <a:schemeClr val="tx1"/>
                          </a:solidFill>
                        </a:rPr>
                        <a:t>@</a:t>
                      </a:r>
                    </a:p>
                    <a:p>
                      <a:pPr marL="0" algn="ctr" defTabSz="709621" rtl="0" eaLnBrk="1" latinLnBrk="0" hangingPunct="1"/>
                      <a:r>
                        <a:rPr lang="en-GB" sz="500" kern="1200" noProof="0" dirty="0">
                          <a:solidFill>
                            <a:schemeClr val="tx1"/>
                          </a:solidFill>
                        </a:rPr>
                        <a:t>spenergynetworks.co.uk</a:t>
                      </a:r>
                      <a:endParaRPr lang="en-GB" sz="500" kern="1200" noProof="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000" marR="18000" marT="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7096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00" kern="1200" noProof="0" dirty="0" err="1">
                          <a:solidFill>
                            <a:schemeClr val="tx1"/>
                          </a:solidFill>
                        </a:rPr>
                        <a:t>yue.qi</a:t>
                      </a:r>
                      <a:r>
                        <a:rPr lang="en-GB" sz="500" kern="1200" noProof="0" dirty="0">
                          <a:solidFill>
                            <a:schemeClr val="tx1"/>
                          </a:solidFill>
                        </a:rPr>
                        <a:t>@</a:t>
                      </a:r>
                    </a:p>
                    <a:p>
                      <a:pPr marL="0" marR="0" lvl="0" indent="0" algn="ctr" defTabSz="7096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00" kern="1200" noProof="0" dirty="0">
                          <a:solidFill>
                            <a:schemeClr val="tx1"/>
                          </a:solidFill>
                        </a:rPr>
                        <a:t>gla.ac.uk</a:t>
                      </a:r>
                      <a:endParaRPr lang="en-GB" sz="500" kern="1200" noProof="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000" marR="18000" marT="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7096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00" kern="1200" noProof="0" dirty="0">
                          <a:solidFill>
                            <a:schemeClr val="tx1"/>
                          </a:solidFill>
                        </a:rPr>
                        <a:t>jiwei.li.2@</a:t>
                      </a:r>
                    </a:p>
                    <a:p>
                      <a:pPr marL="0" marR="0" lvl="0" indent="0" algn="ctr" defTabSz="7096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00" kern="1200" noProof="0" dirty="0">
                          <a:solidFill>
                            <a:schemeClr val="tx1"/>
                          </a:solidFill>
                        </a:rPr>
                        <a:t>gla.ac.uk</a:t>
                      </a:r>
                      <a:endParaRPr lang="en-GB" sz="500" kern="1200" noProof="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000" marR="18000" marT="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7096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00" kern="1200" noProof="0" dirty="0">
                          <a:solidFill>
                            <a:schemeClr val="tx1"/>
                          </a:solidFill>
                        </a:rPr>
                        <a:t>miaorui.ma@</a:t>
                      </a:r>
                    </a:p>
                    <a:p>
                      <a:pPr marL="0" marR="0" lvl="0" indent="0" algn="ctr" defTabSz="7096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00" kern="1200" noProof="0" dirty="0">
                          <a:solidFill>
                            <a:schemeClr val="tx1"/>
                          </a:solidFill>
                        </a:rPr>
                        <a:t>gla.ac.uk</a:t>
                      </a:r>
                      <a:endParaRPr lang="en-GB" sz="500" kern="1200" noProof="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000" marR="18000" marT="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7096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00" kern="1200" noProof="0" dirty="0" err="1">
                          <a:solidFill>
                            <a:schemeClr val="tx1"/>
                          </a:solidFill>
                        </a:rPr>
                        <a:t>jin.yang</a:t>
                      </a:r>
                      <a:r>
                        <a:rPr lang="en-GB" sz="500" kern="1200" noProof="0" dirty="0">
                          <a:solidFill>
                            <a:schemeClr val="tx1"/>
                          </a:solidFill>
                        </a:rPr>
                        <a:t>@</a:t>
                      </a:r>
                    </a:p>
                    <a:p>
                      <a:pPr marL="0" marR="0" lvl="0" indent="0" algn="ctr" defTabSz="7096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00" kern="1200" noProof="0" dirty="0">
                          <a:solidFill>
                            <a:schemeClr val="tx1"/>
                          </a:solidFill>
                        </a:rPr>
                        <a:t>gla.ac.uk</a:t>
                      </a:r>
                      <a:endParaRPr lang="en-GB" sz="500" kern="1200" noProof="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18000" marR="18000" marT="0" marB="36000" anchor="ctr"/>
                </a:tc>
                <a:extLst>
                  <a:ext uri="{0D108BD9-81ED-4DB2-BD59-A6C34878D82A}">
                    <a16:rowId xmlns:a16="http://schemas.microsoft.com/office/drawing/2014/main" val="1655832218"/>
                  </a:ext>
                </a:extLst>
              </a:tr>
            </a:tbl>
          </a:graphicData>
        </a:graphic>
      </p:graphicFrame>
      <p:grpSp>
        <p:nvGrpSpPr>
          <p:cNvPr id="33" name="组合 32">
            <a:extLst>
              <a:ext uri="{FF2B5EF4-FFF2-40B4-BE49-F238E27FC236}">
                <a16:creationId xmlns:a16="http://schemas.microsoft.com/office/drawing/2014/main" id="{ACD30CA6-299D-57A4-D6F8-1032A6C64E24}"/>
              </a:ext>
            </a:extLst>
          </p:cNvPr>
          <p:cNvGrpSpPr/>
          <p:nvPr/>
        </p:nvGrpSpPr>
        <p:grpSpPr>
          <a:xfrm>
            <a:off x="3651870" y="899592"/>
            <a:ext cx="1404115" cy="1044685"/>
            <a:chOff x="3684833" y="738989"/>
            <a:chExt cx="1404115" cy="1044685"/>
          </a:xfrm>
        </p:grpSpPr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71979B45-1130-F1F7-35E3-51ED427DC5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43059" y="738989"/>
              <a:ext cx="1080000" cy="462010"/>
            </a:xfrm>
            <a:prstGeom prst="rect">
              <a:avLst/>
            </a:prstGeom>
          </p:spPr>
        </p:pic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DF0CA505-8C5A-107C-2586-37FF644A4415}"/>
                </a:ext>
              </a:extLst>
            </p:cNvPr>
            <p:cNvGrpSpPr/>
            <p:nvPr/>
          </p:nvGrpSpPr>
          <p:grpSpPr>
            <a:xfrm>
              <a:off x="3684833" y="1207674"/>
              <a:ext cx="1404115" cy="576000"/>
              <a:chOff x="3684833" y="1207674"/>
              <a:chExt cx="1404115" cy="576000"/>
            </a:xfrm>
          </p:grpSpPr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30B277B4-3F0C-4B4C-5E69-051C6A115D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84833" y="1207674"/>
                <a:ext cx="375694" cy="576000"/>
              </a:xfrm>
              <a:prstGeom prst="rect">
                <a:avLst/>
              </a:prstGeom>
            </p:spPr>
          </p:pic>
          <p:pic>
            <p:nvPicPr>
              <p:cNvPr id="31" name="图片 30">
                <a:extLst>
                  <a:ext uri="{FF2B5EF4-FFF2-40B4-BE49-F238E27FC236}">
                    <a16:creationId xmlns:a16="http://schemas.microsoft.com/office/drawing/2014/main" id="{5576CCAB-7E1E-760C-C711-809C70E0CF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80948" y="1333544"/>
                <a:ext cx="1008000" cy="306227"/>
              </a:xfrm>
              <a:prstGeom prst="rect">
                <a:avLst/>
              </a:prstGeom>
            </p:spPr>
          </p:pic>
        </p:grp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4C29F22-5AED-0A1C-3502-925E126190C4}"/>
              </a:ext>
            </a:extLst>
          </p:cNvPr>
          <p:cNvGrpSpPr/>
          <p:nvPr/>
        </p:nvGrpSpPr>
        <p:grpSpPr>
          <a:xfrm>
            <a:off x="244078" y="7668344"/>
            <a:ext cx="2195129" cy="958274"/>
            <a:chOff x="2727426" y="3194301"/>
            <a:chExt cx="2195129" cy="958274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1B5950AB-7375-28EC-C5E3-F65462610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733095" y="3194301"/>
              <a:ext cx="2189460" cy="804668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255231E-0BBD-05BC-766E-4FAD2E6306B4}"/>
                </a:ext>
              </a:extLst>
            </p:cNvPr>
            <p:cNvSpPr txBox="1"/>
            <p:nvPr/>
          </p:nvSpPr>
          <p:spPr>
            <a:xfrm>
              <a:off x="2727426" y="3955598"/>
              <a:ext cx="2189460" cy="1969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680" noProof="0" dirty="0"/>
                <a:t>Figure 1. Topology of the studied UK LVAC network </a:t>
              </a:r>
            </a:p>
          </p:txBody>
        </p:sp>
      </p:grp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B0506BB8-9B42-8926-8F63-61048D54C9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1167198"/>
              </p:ext>
            </p:extLst>
          </p:nvPr>
        </p:nvGraphicFramePr>
        <p:xfrm>
          <a:off x="2823819" y="3969175"/>
          <a:ext cx="2133790" cy="1360896"/>
        </p:xfrm>
        <a:graphic>
          <a:graphicData uri="http://schemas.openxmlformats.org/drawingml/2006/table">
            <a:tbl>
              <a:tblPr firstRow="1" firstCol="1" bandRow="1"/>
              <a:tblGrid>
                <a:gridCol w="577338">
                  <a:extLst>
                    <a:ext uri="{9D8B030D-6E8A-4147-A177-3AD203B41FA5}">
                      <a16:colId xmlns:a16="http://schemas.microsoft.com/office/drawing/2014/main" val="178985535"/>
                    </a:ext>
                  </a:extLst>
                </a:gridCol>
                <a:gridCol w="697987">
                  <a:extLst>
                    <a:ext uri="{9D8B030D-6E8A-4147-A177-3AD203B41FA5}">
                      <a16:colId xmlns:a16="http://schemas.microsoft.com/office/drawing/2014/main" val="300534114"/>
                    </a:ext>
                  </a:extLst>
                </a:gridCol>
                <a:gridCol w="858465">
                  <a:extLst>
                    <a:ext uri="{9D8B030D-6E8A-4147-A177-3AD203B41FA5}">
                      <a16:colId xmlns:a16="http://schemas.microsoft.com/office/drawing/2014/main" val="11635817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800" b="1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GB" sz="800" noProof="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18000" marR="18000" marT="36000" marB="36000" anchor="ctr">
                    <a:lnL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E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800" b="1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Representative</a:t>
                      </a:r>
                    </a:p>
                    <a:p>
                      <a:pPr algn="ctr">
                        <a:buNone/>
                      </a:pPr>
                      <a:r>
                        <a:rPr lang="en-GB" sz="800" b="1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Methods</a:t>
                      </a:r>
                      <a:endParaRPr lang="en-GB" sz="800" noProof="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18000" marR="18000" marT="36000" marB="36000" anchor="ctr">
                    <a:lnL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E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800" b="1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Key limitations</a:t>
                      </a:r>
                      <a:endParaRPr lang="en-GB" sz="800" noProof="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18000" marR="18000" marT="36000" marB="36000" anchor="ctr">
                    <a:lnL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E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50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709621" rtl="0" eaLnBrk="1" latinLnBrk="0" hangingPunct="1">
                        <a:buNone/>
                      </a:pPr>
                      <a:r>
                        <a:rPr lang="en-GB" sz="680" b="1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Model- and signal-based methods</a:t>
                      </a:r>
                      <a:endParaRPr lang="en-GB" sz="680" b="1" kern="1200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000" marR="18000" marT="36000" marB="36000" anchor="ctr">
                    <a:lnL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096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680" kern="1200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Observers;</a:t>
                      </a:r>
                    </a:p>
                    <a:p>
                      <a:pPr algn="ctr">
                        <a:buNone/>
                      </a:pPr>
                      <a:r>
                        <a:rPr lang="en-GB" sz="680" kern="1200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Time/frequency</a:t>
                      </a:r>
                    </a:p>
                    <a:p>
                      <a:pPr algn="ctr">
                        <a:buNone/>
                      </a:pPr>
                      <a:r>
                        <a:rPr lang="en-GB" sz="680" kern="1200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analysis</a:t>
                      </a:r>
                    </a:p>
                  </a:txBody>
                  <a:tcPr marL="18000" marR="18000" marT="36000" marB="36000" anchor="ctr">
                    <a:lnL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09621" rtl="0" eaLnBrk="1" latinLnBrk="0" hangingPunct="1">
                        <a:buNone/>
                      </a:pPr>
                      <a:r>
                        <a:rPr lang="en-GB" sz="680" kern="1200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Parameter, feature and noise sensitivity</a:t>
                      </a:r>
                      <a:endParaRPr lang="en-GB" sz="680" kern="1200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000" marR="18000" marT="36000" marB="36000" anchor="ctr">
                    <a:lnL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803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680" b="1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Knowledge-</a:t>
                      </a:r>
                    </a:p>
                    <a:p>
                      <a:pPr algn="ctr">
                        <a:buNone/>
                      </a:pPr>
                      <a:r>
                        <a:rPr lang="en-GB" sz="680" b="1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based</a:t>
                      </a:r>
                      <a:endParaRPr lang="en-GB" sz="680" noProof="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18000" marR="18000" marT="36000" marB="36000" anchor="ctr">
                    <a:lnL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68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SVM, </a:t>
                      </a:r>
                      <a:r>
                        <a:rPr lang="en-GB" sz="680" kern="1200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DT, ANN</a:t>
                      </a:r>
                    </a:p>
                  </a:txBody>
                  <a:tcPr marL="18000" marR="18000" marT="36000" marB="36000" anchor="ctr">
                    <a:lnL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68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Manual feature</a:t>
                      </a:r>
                      <a:r>
                        <a:rPr lang="en-GB" sz="680" noProof="0" dirty="0"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GB" sz="68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; </a:t>
                      </a:r>
                    </a:p>
                    <a:p>
                      <a:pPr algn="ctr">
                        <a:buNone/>
                      </a:pPr>
                      <a:r>
                        <a:rPr lang="en-GB" sz="680" noProof="0" dirty="0"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weak</a:t>
                      </a:r>
                      <a:r>
                        <a:rPr lang="en-GB" sz="68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temporal modelling</a:t>
                      </a:r>
                      <a:endParaRPr lang="en-GB" sz="680" noProof="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18000" marR="18000" marT="36000" marB="36000" anchor="ctr">
                    <a:lnL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8355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680" b="1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Deep learning-</a:t>
                      </a:r>
                    </a:p>
                    <a:p>
                      <a:pPr algn="ctr">
                        <a:buNone/>
                      </a:pPr>
                      <a:r>
                        <a:rPr lang="en-GB" sz="680" b="1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based</a:t>
                      </a:r>
                      <a:endParaRPr lang="en-GB" sz="680" noProof="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18000" marR="18000" marT="36000" marB="36000" anchor="ctr">
                    <a:lnL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68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CNNs, LSTMs,</a:t>
                      </a:r>
                    </a:p>
                    <a:p>
                      <a:pPr algn="ctr">
                        <a:buNone/>
                      </a:pPr>
                      <a:r>
                        <a:rPr lang="en-GB" sz="68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Transformers</a:t>
                      </a:r>
                      <a:endParaRPr lang="en-GB" sz="680" noProof="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18000" marR="18000" marT="36000" marB="36000" anchor="ctr">
                    <a:lnL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68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Higher complexity; </a:t>
                      </a:r>
                    </a:p>
                    <a:p>
                      <a:pPr algn="ctr">
                        <a:buNone/>
                      </a:pPr>
                      <a:r>
                        <a:rPr lang="en-GB" sz="68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data dependence</a:t>
                      </a:r>
                      <a:endParaRPr lang="en-GB" sz="680" noProof="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18000" marR="18000" marT="36000" marB="36000" anchor="ctr">
                    <a:lnL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5056168"/>
                  </a:ext>
                </a:extLst>
              </a:tr>
            </a:tbl>
          </a:graphicData>
        </a:graphic>
      </p:graphicFrame>
      <p:sp>
        <p:nvSpPr>
          <p:cNvPr id="22" name="文本框 21">
            <a:extLst>
              <a:ext uri="{FF2B5EF4-FFF2-40B4-BE49-F238E27FC236}">
                <a16:creationId xmlns:a16="http://schemas.microsoft.com/office/drawing/2014/main" id="{32E094EC-5E19-FBB0-1852-3C085100A33D}"/>
              </a:ext>
            </a:extLst>
          </p:cNvPr>
          <p:cNvSpPr txBox="1"/>
          <p:nvPr/>
        </p:nvSpPr>
        <p:spPr>
          <a:xfrm>
            <a:off x="2703913" y="3779912"/>
            <a:ext cx="2316109" cy="19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680" noProof="0" dirty="0"/>
              <a:t>Table 1. Overview of recent methods in power system FDC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feld 12">
                <a:extLst>
                  <a:ext uri="{FF2B5EF4-FFF2-40B4-BE49-F238E27FC236}">
                    <a16:creationId xmlns:a16="http://schemas.microsoft.com/office/drawing/2014/main" id="{2C11E105-C4FF-4BA3-47CC-C1F4575E8EAF}"/>
                  </a:ext>
                </a:extLst>
              </p:cNvPr>
              <p:cNvSpPr txBox="1"/>
              <p:nvPr/>
            </p:nvSpPr>
            <p:spPr>
              <a:xfrm>
                <a:off x="2739876" y="5364088"/>
                <a:ext cx="2189460" cy="22729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Bef>
                    <a:spcPts val="510"/>
                  </a:spcBef>
                </a:pPr>
                <a:r>
                  <a:rPr lang="en-GB" sz="680" noProof="0" dirty="0"/>
                  <a:t>To address these limitations, this study develops an end-to-end CNN-LSTM-Transformer framework for LVAC fault detection and classification.</a:t>
                </a:r>
              </a:p>
              <a:p>
                <a:pPr algn="just">
                  <a:spcBef>
                    <a:spcPts val="510"/>
                  </a:spcBef>
                </a:pPr>
                <a:r>
                  <a:rPr lang="en-GB" sz="680" noProof="0" dirty="0"/>
                  <a:t>The measured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680" noProof="0" smtClean="0"/>
                        </m:ctrlPr>
                      </m:sSubPr>
                      <m:e>
                        <m:r>
                          <a:rPr lang="en-GB" sz="680" noProof="0" smtClean="0"/>
                          <m:t>𝑉</m:t>
                        </m:r>
                      </m:e>
                      <m:sub>
                        <m:r>
                          <a:rPr lang="en-GB" sz="680" noProof="0" smtClean="0"/>
                          <m:t>𝑎𝑏𝑐</m:t>
                        </m:r>
                      </m:sub>
                    </m:sSub>
                  </m:oMath>
                </a14:m>
                <a:r>
                  <a:rPr lang="en-GB" sz="680" noProof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680" noProof="0" smtClean="0"/>
                        </m:ctrlPr>
                      </m:sSubPr>
                      <m:e>
                        <m:r>
                          <a:rPr lang="en-GB" sz="680" noProof="0" smtClean="0"/>
                          <m:t>𝐼</m:t>
                        </m:r>
                      </m:e>
                      <m:sub>
                        <m:r>
                          <a:rPr lang="en-GB" sz="680" noProof="0" smtClean="0"/>
                          <m:t>𝑎𝑏𝑐</m:t>
                        </m:r>
                      </m:sub>
                    </m:sSub>
                  </m:oMath>
                </a14:m>
                <a:r>
                  <a:rPr lang="en-GB" sz="680" noProof="0" dirty="0"/>
                  <a:t> signals are segmented into fixed-length post-fault time windows and normalised to reduce operating-condition variation and measurement noise. The resulting six-channel time-series data are used directly as model inputs, without manually engineered protection features.</a:t>
                </a:r>
              </a:p>
              <a:p>
                <a:pPr algn="just">
                  <a:spcBef>
                    <a:spcPts val="510"/>
                  </a:spcBef>
                </a:pPr>
                <a:r>
                  <a:rPr lang="en-GB" sz="680" noProof="0" dirty="0"/>
                  <a:t>The CNN front-end enhances inter-phase voltage-current features, the LSTM module captures short-term fault transients, and the Transformer encoder models long-range dependencies associated with inverter-dominated LVAC fault dynamics.</a:t>
                </a:r>
              </a:p>
              <a:p>
                <a:pPr algn="just">
                  <a:spcBef>
                    <a:spcPts val="510"/>
                  </a:spcBef>
                </a:pPr>
                <a:r>
                  <a:rPr lang="en-GB" sz="680" noProof="0" dirty="0"/>
                  <a:t>Task-specific output layers perform fault recognition and fault type classification. Model performance is evaluated using accuracy, precision, recall, F1-score and detection latency under load-only, LCT-integrated, noisy and HIF conditions.</a:t>
                </a:r>
              </a:p>
            </p:txBody>
          </p:sp>
        </mc:Choice>
        <mc:Fallback>
          <p:sp>
            <p:nvSpPr>
              <p:cNvPr id="7" name="Textfeld 12">
                <a:extLst>
                  <a:ext uri="{FF2B5EF4-FFF2-40B4-BE49-F238E27FC236}">
                    <a16:creationId xmlns:a16="http://schemas.microsoft.com/office/drawing/2014/main" id="{2C11E105-C4FF-4BA3-47CC-C1F4575E8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9876" y="5364088"/>
                <a:ext cx="2189460" cy="227293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组合 16">
            <a:extLst>
              <a:ext uri="{FF2B5EF4-FFF2-40B4-BE49-F238E27FC236}">
                <a16:creationId xmlns:a16="http://schemas.microsoft.com/office/drawing/2014/main" id="{66859A83-5989-10D6-E656-FBE96504081A}"/>
              </a:ext>
            </a:extLst>
          </p:cNvPr>
          <p:cNvGrpSpPr/>
          <p:nvPr/>
        </p:nvGrpSpPr>
        <p:grpSpPr>
          <a:xfrm>
            <a:off x="2739876" y="7637018"/>
            <a:ext cx="2196203" cy="1139148"/>
            <a:chOff x="2823818" y="7609316"/>
            <a:chExt cx="2196203" cy="1139148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447558CA-1892-8B2D-C1AE-D8A64FC5B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021919" y="7609316"/>
              <a:ext cx="1800000" cy="852563"/>
            </a:xfrm>
            <a:prstGeom prst="rect">
              <a:avLst/>
            </a:prstGeom>
          </p:spPr>
        </p:pic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A4ADF422-8550-3BEA-8138-BEA6E3D18204}"/>
                </a:ext>
              </a:extLst>
            </p:cNvPr>
            <p:cNvSpPr txBox="1"/>
            <p:nvPr/>
          </p:nvSpPr>
          <p:spPr>
            <a:xfrm>
              <a:off x="2823818" y="8446843"/>
              <a:ext cx="2196203" cy="3016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680" noProof="0" dirty="0"/>
                <a:t>Figure 2. The proposed CNN-LSTM-Transformer model for LVAC FDC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87466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C26DF-11C0-B812-FEF9-6519C89F8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89C7CBDE-5469-99FC-AE02-9B7C81D15406}"/>
              </a:ext>
            </a:extLst>
          </p:cNvPr>
          <p:cNvSpPr txBox="1"/>
          <p:nvPr/>
        </p:nvSpPr>
        <p:spPr>
          <a:xfrm>
            <a:off x="614688" y="2195614"/>
            <a:ext cx="3914118" cy="432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4" b="1" dirty="0">
                <a:latin typeface="+mj-lt"/>
              </a:rPr>
              <a:t>An Improved AI-Driven LVAC Network Fault Detection and Classification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4D3DDE7-0B0B-EA10-9ABA-1152D9BCD596}"/>
              </a:ext>
            </a:extLst>
          </p:cNvPr>
          <p:cNvSpPr txBox="1"/>
          <p:nvPr/>
        </p:nvSpPr>
        <p:spPr>
          <a:xfrm>
            <a:off x="244078" y="2627784"/>
            <a:ext cx="2189460" cy="73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153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Experimental setup &amp; test results</a:t>
            </a:r>
          </a:p>
          <a:p>
            <a:pPr algn="just">
              <a:spcBef>
                <a:spcPts val="510"/>
              </a:spcBef>
              <a:defRPr/>
            </a:pPr>
            <a:r>
              <a:rPr lang="en-GB" altLang="zh-CN" sz="680" dirty="0"/>
              <a:t>Four controlled case studies are designed to evaluate the accuracy, robustness and response performance of the proposed CNN-LSTM-Transformer FDC framework under practical LVAC operating conditions.</a:t>
            </a:r>
            <a:endParaRPr lang="en-GB" sz="680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4BC11A8-507D-6233-1168-0C7B612F7600}"/>
              </a:ext>
            </a:extLst>
          </p:cNvPr>
          <p:cNvSpPr txBox="1"/>
          <p:nvPr/>
        </p:nvSpPr>
        <p:spPr>
          <a:xfrm>
            <a:off x="2739876" y="5148064"/>
            <a:ext cx="2189460" cy="2008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altLang="zh-CN" sz="1000" b="1" dirty="0"/>
              <a:t>Discussion</a:t>
            </a:r>
            <a:endParaRPr lang="en-GB" sz="1000" b="1" dirty="0"/>
          </a:p>
          <a:p>
            <a:pPr marL="116525" indent="-116525" algn="just">
              <a:spcBef>
                <a:spcPts val="510"/>
              </a:spcBef>
              <a:buFont typeface="Arial" pitchFamily="34" charset="0"/>
              <a:buChar char="•"/>
            </a:pPr>
            <a:r>
              <a:rPr lang="en-GB" altLang="zh-CN" sz="680" dirty="0"/>
              <a:t>LCT integration slightly reduces classification performance and increases detection latency from </a:t>
            </a:r>
            <a:r>
              <a:rPr lang="en-GB" altLang="zh-CN" sz="680" b="1" dirty="0"/>
              <a:t>0.14 </a:t>
            </a:r>
            <a:r>
              <a:rPr lang="en-GB" altLang="zh-CN" sz="680" b="1" dirty="0" err="1"/>
              <a:t>ms</a:t>
            </a:r>
            <a:r>
              <a:rPr lang="en-GB" altLang="zh-CN" sz="680" b="1" dirty="0"/>
              <a:t> to 0.71 </a:t>
            </a:r>
            <a:r>
              <a:rPr lang="en-GB" altLang="zh-CN" sz="680" b="1" dirty="0" err="1"/>
              <a:t>ms</a:t>
            </a:r>
            <a:r>
              <a:rPr lang="en-GB" altLang="zh-CN" sz="680" dirty="0"/>
              <a:t>, which is expected due to inverter-driven transients and reduced fault-current visibility.</a:t>
            </a:r>
            <a:endParaRPr lang="en-GB" sz="680" dirty="0"/>
          </a:p>
          <a:p>
            <a:pPr marL="116525" indent="-116525" algn="just">
              <a:spcBef>
                <a:spcPts val="510"/>
              </a:spcBef>
              <a:buFont typeface="Arial" pitchFamily="34" charset="0"/>
              <a:buChar char="•"/>
            </a:pPr>
            <a:r>
              <a:rPr lang="zh-CN" altLang="zh-CN" sz="680" dirty="0"/>
              <a:t>The stable performance under noisy measurements indicates that the proposed framework extracts robust spatio-temporal fault features rather than relying only on current magnitude or manually engineered indicators.</a:t>
            </a:r>
            <a:endParaRPr lang="en-GB" sz="680" dirty="0"/>
          </a:p>
          <a:p>
            <a:pPr marL="116525" indent="-116525" algn="just">
              <a:spcBef>
                <a:spcPts val="510"/>
              </a:spcBef>
              <a:buFont typeface="Arial" pitchFamily="34" charset="0"/>
              <a:buChar char="•"/>
            </a:pPr>
            <a:r>
              <a:rPr lang="zh-CN" altLang="zh-CN" sz="680" dirty="0"/>
              <a:t>HIF subclass confusion is expected because different impedance levels produce similar weak fault signatures; however, the merged HIF recognition accuracy of approximately 99% is more relevant for practical LV protection.</a:t>
            </a:r>
            <a:endParaRPr lang="en-GB" sz="68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CAD7B5A-4038-4D6D-20EF-4CD65B871ABB}"/>
              </a:ext>
            </a:extLst>
          </p:cNvPr>
          <p:cNvSpPr txBox="1"/>
          <p:nvPr/>
        </p:nvSpPr>
        <p:spPr>
          <a:xfrm>
            <a:off x="2739876" y="7135007"/>
            <a:ext cx="2189460" cy="1694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GB" altLang="zh-CN" sz="1000" b="1" dirty="0"/>
              <a:t>Conclusion </a:t>
            </a:r>
            <a:endParaRPr lang="en-GB" sz="1000" b="1" dirty="0"/>
          </a:p>
          <a:p>
            <a:pPr marL="116525" indent="-116525" algn="just">
              <a:spcBef>
                <a:spcPts val="510"/>
              </a:spcBef>
              <a:buFont typeface="Arial" pitchFamily="34" charset="0"/>
              <a:buChar char="•"/>
              <a:defRPr/>
            </a:pPr>
            <a:r>
              <a:rPr lang="zh-CN" altLang="zh-CN" sz="680" dirty="0"/>
              <a:t>A CNN-LSTM-Transformer FDC framework is developed for LCT-integrated LVAC networks under limited monitoring conditions.</a:t>
            </a:r>
            <a:endParaRPr lang="en-GB" sz="680" dirty="0"/>
          </a:p>
          <a:p>
            <a:pPr marL="116525" indent="-116525" algn="just">
              <a:spcBef>
                <a:spcPts val="510"/>
              </a:spcBef>
              <a:buFont typeface="Arial" pitchFamily="34" charset="0"/>
              <a:buChar char="•"/>
              <a:defRPr/>
            </a:pPr>
            <a:r>
              <a:rPr lang="zh-CN" altLang="zh-CN" sz="680" dirty="0"/>
              <a:t>The framework shows near-perfect FDC performance under load-only operation, with </a:t>
            </a:r>
            <a:r>
              <a:rPr lang="zh-CN" altLang="zh-CN" sz="680" b="1" dirty="0"/>
              <a:t>approximately 100% </a:t>
            </a:r>
            <a:r>
              <a:rPr lang="zh-CN" altLang="zh-CN" sz="680" dirty="0"/>
              <a:t>faulted-sample detection and </a:t>
            </a:r>
            <a:r>
              <a:rPr lang="zh-CN" altLang="zh-CN" sz="680" b="1" dirty="0"/>
              <a:t>99.4%</a:t>
            </a:r>
            <a:r>
              <a:rPr lang="zh-CN" altLang="zh-CN" sz="680" dirty="0"/>
              <a:t> normal-state identification, while maintaining classification metrics above </a:t>
            </a:r>
            <a:r>
              <a:rPr lang="zh-CN" altLang="zh-CN" sz="680" b="1" dirty="0"/>
              <a:t>99.5%</a:t>
            </a:r>
            <a:r>
              <a:rPr lang="zh-CN" altLang="zh-CN" sz="680" dirty="0"/>
              <a:t> under LCT integration.</a:t>
            </a:r>
            <a:endParaRPr lang="en-GB" altLang="zh-CN" sz="680" dirty="0"/>
          </a:p>
          <a:p>
            <a:pPr marL="116525" indent="-116525" algn="just">
              <a:spcBef>
                <a:spcPts val="510"/>
              </a:spcBef>
              <a:buFont typeface="Arial" pitchFamily="34" charset="0"/>
              <a:buChar char="•"/>
              <a:defRPr/>
            </a:pPr>
            <a:r>
              <a:rPr lang="zh-CN" altLang="zh-CN" sz="680" dirty="0"/>
              <a:t>Results under noisy measurements and HIF conditions demonstrate strong robustness, supporting data-driven protection for future LVAC networks.</a:t>
            </a:r>
            <a:endParaRPr lang="en-GB" altLang="zh-CN" sz="680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4765D10-5870-05C1-DB4D-C56AA1D590B3}"/>
              </a:ext>
            </a:extLst>
          </p:cNvPr>
          <p:cNvSpPr txBox="1"/>
          <p:nvPr/>
        </p:nvSpPr>
        <p:spPr>
          <a:xfrm>
            <a:off x="1593219" y="1547650"/>
            <a:ext cx="1957059" cy="444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02"/>
              </a:spcBef>
            </a:pPr>
            <a:r>
              <a:rPr lang="en-GB" sz="1359" dirty="0">
                <a:solidFill>
                  <a:srgbClr val="DE6336"/>
                </a:solidFill>
                <a:latin typeface="+mj-lt"/>
              </a:rPr>
              <a:t>Study Committee B5</a:t>
            </a:r>
          </a:p>
          <a:p>
            <a:pPr algn="ctr">
              <a:spcBef>
                <a:spcPts val="102"/>
              </a:spcBef>
              <a:defRPr/>
            </a:pPr>
            <a:r>
              <a:rPr lang="en-GB" sz="849" dirty="0">
                <a:solidFill>
                  <a:srgbClr val="DE6336"/>
                </a:solidFill>
              </a:rPr>
              <a:t>PROTECTION AND AUTOMATION</a:t>
            </a:r>
          </a:p>
        </p:txBody>
      </p:sp>
      <p:sp>
        <p:nvSpPr>
          <p:cNvPr id="14" name="Textfeld 10">
            <a:extLst>
              <a:ext uri="{FF2B5EF4-FFF2-40B4-BE49-F238E27FC236}">
                <a16:creationId xmlns:a16="http://schemas.microsoft.com/office/drawing/2014/main" id="{4FE63A9A-55C1-F623-5FF2-2ECE69146F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3354" y="1953941"/>
            <a:ext cx="2256787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8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8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8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8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8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175125" eaLnBrk="0" fontAlgn="base" hangingPunct="0">
              <a:spcBef>
                <a:spcPct val="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175125" eaLnBrk="0" fontAlgn="base" hangingPunct="0">
              <a:spcBef>
                <a:spcPct val="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175125" eaLnBrk="0" fontAlgn="base" hangingPunct="0">
              <a:spcBef>
                <a:spcPct val="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175125" eaLnBrk="0" fontAlgn="base" hangingPunct="0">
              <a:spcBef>
                <a:spcPct val="0"/>
              </a:spcBef>
              <a:spcAft>
                <a:spcPct val="0"/>
              </a:spcAft>
              <a:defRPr sz="8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ts val="102"/>
              </a:spcBef>
            </a:pPr>
            <a:r>
              <a:rPr lang="en-GB" sz="1019" dirty="0">
                <a:solidFill>
                  <a:srgbClr val="DE6336"/>
                </a:solidFill>
                <a:latin typeface="Calibri" pitchFamily="34" charset="0"/>
              </a:rPr>
              <a:t>Paper ID: 12071 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2811217-0442-2611-9D87-CA8DCB5B10B4}"/>
              </a:ext>
            </a:extLst>
          </p:cNvPr>
          <p:cNvGrpSpPr/>
          <p:nvPr/>
        </p:nvGrpSpPr>
        <p:grpSpPr>
          <a:xfrm>
            <a:off x="3651870" y="899592"/>
            <a:ext cx="1404115" cy="1044685"/>
            <a:chOff x="3684833" y="738989"/>
            <a:chExt cx="1404115" cy="1044685"/>
          </a:xfrm>
        </p:grpSpPr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36039C72-AFE3-9B27-F6AD-9B3E6CA6D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43059" y="738989"/>
              <a:ext cx="1080000" cy="462010"/>
            </a:xfrm>
            <a:prstGeom prst="rect">
              <a:avLst/>
            </a:prstGeom>
          </p:spPr>
        </p:pic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C262DFF6-0651-E9A6-41A8-8FBD5EFE0AD0}"/>
                </a:ext>
              </a:extLst>
            </p:cNvPr>
            <p:cNvGrpSpPr/>
            <p:nvPr/>
          </p:nvGrpSpPr>
          <p:grpSpPr>
            <a:xfrm>
              <a:off x="3684833" y="1207674"/>
              <a:ext cx="1404115" cy="576000"/>
              <a:chOff x="3684833" y="1207674"/>
              <a:chExt cx="1404115" cy="576000"/>
            </a:xfrm>
          </p:grpSpPr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748B6805-F8A0-6963-2DE6-4773EF7AD6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84833" y="1207674"/>
                <a:ext cx="375694" cy="576000"/>
              </a:xfrm>
              <a:prstGeom prst="rect">
                <a:avLst/>
              </a:prstGeom>
            </p:spPr>
          </p:pic>
          <p:pic>
            <p:nvPicPr>
              <p:cNvPr id="31" name="图片 30">
                <a:extLst>
                  <a:ext uri="{FF2B5EF4-FFF2-40B4-BE49-F238E27FC236}">
                    <a16:creationId xmlns:a16="http://schemas.microsoft.com/office/drawing/2014/main" id="{EDA8FCD1-1494-AA9A-FC35-75D17A655B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0948" y="1333544"/>
                <a:ext cx="1008000" cy="306227"/>
              </a:xfrm>
              <a:prstGeom prst="rect">
                <a:avLst/>
              </a:prstGeom>
            </p:spPr>
          </p:pic>
        </p:grpSp>
      </p:grp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340E96C-FC90-5A7B-CB8C-00B4651C4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495606"/>
              </p:ext>
            </p:extLst>
          </p:nvPr>
        </p:nvGraphicFramePr>
        <p:xfrm>
          <a:off x="363672" y="3520081"/>
          <a:ext cx="1950272" cy="1330416"/>
        </p:xfrm>
        <a:graphic>
          <a:graphicData uri="http://schemas.openxmlformats.org/drawingml/2006/table">
            <a:tbl>
              <a:tblPr firstRow="1" firstCol="1" bandRow="1"/>
              <a:tblGrid>
                <a:gridCol w="275491">
                  <a:extLst>
                    <a:ext uri="{9D8B030D-6E8A-4147-A177-3AD203B41FA5}">
                      <a16:colId xmlns:a16="http://schemas.microsoft.com/office/drawing/2014/main" val="178985535"/>
                    </a:ext>
                  </a:extLst>
                </a:gridCol>
                <a:gridCol w="658300">
                  <a:extLst>
                    <a:ext uri="{9D8B030D-6E8A-4147-A177-3AD203B41FA5}">
                      <a16:colId xmlns:a16="http://schemas.microsoft.com/office/drawing/2014/main" val="300534114"/>
                    </a:ext>
                  </a:extLst>
                </a:gridCol>
                <a:gridCol w="1016481">
                  <a:extLst>
                    <a:ext uri="{9D8B030D-6E8A-4147-A177-3AD203B41FA5}">
                      <a16:colId xmlns:a16="http://schemas.microsoft.com/office/drawing/2014/main" val="11635817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800" b="1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Case</a:t>
                      </a:r>
                      <a:endParaRPr lang="en-GB" sz="800" noProof="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18000" marR="18000" marT="36000" marB="36000" anchor="ctr">
                    <a:lnL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E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altLang="zh-CN" sz="800" b="1" kern="1200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Test condition</a:t>
                      </a:r>
                      <a:endParaRPr lang="en-GB" sz="800" b="1" kern="1200" noProof="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000" marR="18000" marT="36000" marB="36000" anchor="ctr">
                    <a:lnL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E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altLang="zh-CN" sz="800" b="1" kern="1200" noProof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Key purpose</a:t>
                      </a:r>
                      <a:endParaRPr lang="en-GB" sz="800" b="1" kern="1200" noProof="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000" marR="18000" marT="36000" marB="36000" anchor="ctr">
                    <a:lnL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E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50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709621" rtl="0" eaLnBrk="1" latinLnBrk="0" hangingPunct="1">
                        <a:buNone/>
                      </a:pPr>
                      <a:r>
                        <a:rPr lang="en-GB" sz="680" b="1" kern="1200" noProof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en-GB" sz="680" b="1" kern="1200" noProof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8000" marR="18000" marT="36000" marB="36000" anchor="ctr">
                    <a:lnL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0962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680" b="0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Load-only LVAC</a:t>
                      </a:r>
                      <a:endParaRPr lang="en-GB" sz="680" b="0" kern="1200" noProof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8000" marR="18000" marT="36000" marB="36000" anchor="ctr">
                    <a:lnL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09621" rtl="0" eaLnBrk="1" latinLnBrk="0" hangingPunct="1">
                        <a:buNone/>
                      </a:pPr>
                      <a:r>
                        <a:rPr lang="en-GB" altLang="zh-CN" sz="680" b="0" kern="1200" noProof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Baseline FDC performance</a:t>
                      </a:r>
                      <a:endParaRPr lang="en-GB" sz="680" b="0" kern="1200" noProof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8000" marR="18000" marT="36000" marB="36000" anchor="ctr">
                    <a:lnL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803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709621" rtl="0" eaLnBrk="1" latinLnBrk="0" hangingPunct="1">
                        <a:buNone/>
                      </a:pPr>
                      <a:r>
                        <a:rPr lang="en-GB" sz="680" b="1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18000" marR="18000" marT="36000" marB="36000" anchor="ctr">
                    <a:lnL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709621" rtl="0" eaLnBrk="1" latinLnBrk="0" hangingPunct="1">
                        <a:buNone/>
                      </a:pPr>
                      <a:r>
                        <a:rPr lang="en-GB" altLang="zh-CN" sz="680" b="0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LCT-integrated</a:t>
                      </a:r>
                      <a:endParaRPr lang="en-GB" sz="680" b="0" kern="1200" noProof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8000" marR="18000" marT="36000" marB="36000" anchor="ctr">
                    <a:lnL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09621" rtl="0" eaLnBrk="1" latinLnBrk="0" hangingPunct="1">
                        <a:buNone/>
                      </a:pPr>
                      <a:r>
                        <a:rPr lang="en-GB" altLang="zh-CN" sz="680" b="0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Impact of inverter-interfaced dynamics</a:t>
                      </a:r>
                      <a:endParaRPr lang="en-GB" sz="680" b="0" kern="1200" noProof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8000" marR="18000" marT="36000" marB="36000" anchor="ctr">
                    <a:lnL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8355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709621" rtl="0" eaLnBrk="1" latinLnBrk="0" hangingPunct="1">
                        <a:buNone/>
                      </a:pPr>
                      <a:r>
                        <a:rPr lang="en-GB" sz="680" b="1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8000" marR="18000" marT="36000" marB="36000" anchor="ctr">
                    <a:lnL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709621" rtl="0" eaLnBrk="1" latinLnBrk="0" hangingPunct="1">
                        <a:buNone/>
                      </a:pPr>
                      <a:r>
                        <a:rPr lang="en-GB" altLang="zh-CN" sz="680" b="0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Noisy LCT-</a:t>
                      </a:r>
                    </a:p>
                    <a:p>
                      <a:pPr marL="0" algn="ctr" defTabSz="709621" rtl="0" eaLnBrk="1" latinLnBrk="0" hangingPunct="1">
                        <a:buNone/>
                      </a:pPr>
                      <a:r>
                        <a:rPr lang="en-GB" altLang="zh-CN" sz="680" b="0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integrated</a:t>
                      </a:r>
                      <a:endParaRPr lang="en-GB" sz="680" b="0" kern="1200" noProof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8000" marR="18000" marT="36000" marB="36000" anchor="ctr">
                    <a:lnL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zh-CN" sz="68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Robustness to</a:t>
                      </a:r>
                      <a:r>
                        <a:rPr lang="en-US" altLang="zh-CN" sz="68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zh-CN" sz="68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measurement uncertainty</a:t>
                      </a:r>
                      <a:endParaRPr lang="zh-CN" altLang="en-US" sz="680" b="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5056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709621" rtl="0" eaLnBrk="1" latinLnBrk="0" hangingPunct="1">
                        <a:buNone/>
                      </a:pPr>
                      <a:r>
                        <a:rPr lang="en-GB" sz="680" b="1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18000" marR="18000" marT="36000" marB="36000" anchor="ctr">
                    <a:lnL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709621" rtl="0" eaLnBrk="1" latinLnBrk="0" hangingPunct="1">
                        <a:buNone/>
                      </a:pPr>
                      <a:r>
                        <a:rPr lang="zh-CN" altLang="zh-CN" sz="68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HIF, 50 Ω / 100 Ω</a:t>
                      </a:r>
                      <a:endParaRPr lang="en-GB" sz="680" b="0" kern="1200" noProof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8000" marR="18000" marT="36000" marB="36000" anchor="ctr">
                    <a:lnL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709621" rtl="0" eaLnBrk="1" latinLnBrk="0" hangingPunct="1">
                        <a:buNone/>
                      </a:pPr>
                      <a:r>
                        <a:rPr lang="en-GB" altLang="zh-CN" sz="680" b="0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Recognition of </a:t>
                      </a:r>
                      <a:r>
                        <a:rPr lang="zh-CN" altLang="zh-CN" sz="68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weak fault signatures</a:t>
                      </a:r>
                      <a:endParaRPr lang="en-GB" sz="680" b="0" kern="1200" noProof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8000" marR="18000" marT="36000" marB="36000" anchor="ctr">
                    <a:lnL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E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BB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378790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F63A740F-CBB6-41A1-70EF-8461D171EC39}"/>
              </a:ext>
            </a:extLst>
          </p:cNvPr>
          <p:cNvSpPr txBox="1"/>
          <p:nvPr/>
        </p:nvSpPr>
        <p:spPr>
          <a:xfrm>
            <a:off x="363673" y="3323104"/>
            <a:ext cx="1950272" cy="19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680" dirty="0"/>
              <a:t>Table 2. </a:t>
            </a:r>
            <a:r>
              <a:rPr lang="zh-CN" altLang="zh-CN" sz="680" dirty="0"/>
              <a:t>Experimental case studies for LVAC FDC</a:t>
            </a:r>
            <a:endParaRPr lang="en-GB" sz="680" dirty="0"/>
          </a:p>
        </p:txBody>
      </p:sp>
      <p:sp>
        <p:nvSpPr>
          <p:cNvPr id="19" name="Textfeld 4">
            <a:extLst>
              <a:ext uri="{FF2B5EF4-FFF2-40B4-BE49-F238E27FC236}">
                <a16:creationId xmlns:a16="http://schemas.microsoft.com/office/drawing/2014/main" id="{43F22CE4-187D-85DF-C0D3-14D6DF2FE645}"/>
              </a:ext>
            </a:extLst>
          </p:cNvPr>
          <p:cNvSpPr txBox="1"/>
          <p:nvPr/>
        </p:nvSpPr>
        <p:spPr>
          <a:xfrm>
            <a:off x="244078" y="4858719"/>
            <a:ext cx="2189460" cy="1958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510"/>
              </a:spcBef>
              <a:defRPr/>
            </a:pPr>
            <a:r>
              <a:rPr lang="en-GB" altLang="zh-CN" sz="680" dirty="0"/>
              <a:t>Under </a:t>
            </a:r>
            <a:r>
              <a:rPr lang="en-GB" sz="680" dirty="0"/>
              <a:t>c</a:t>
            </a:r>
            <a:r>
              <a:rPr lang="en-GB" altLang="zh-CN" sz="680" dirty="0"/>
              <a:t>onventional load-only operation, the model achieves 100.0% fault detection accuracy and fault classification accuracies above 99.7%, with an average detection latency of 0.14 </a:t>
            </a:r>
            <a:r>
              <a:rPr lang="en-GB" altLang="zh-CN" sz="680" dirty="0" err="1"/>
              <a:t>ms</a:t>
            </a:r>
            <a:r>
              <a:rPr lang="en-GB" altLang="zh-CN" sz="680" dirty="0"/>
              <a:t>.</a:t>
            </a:r>
            <a:endParaRPr lang="en-GB" sz="680" dirty="0"/>
          </a:p>
          <a:p>
            <a:pPr algn="just">
              <a:spcBef>
                <a:spcPts val="510"/>
              </a:spcBef>
              <a:defRPr/>
            </a:pPr>
            <a:r>
              <a:rPr lang="en-GB" altLang="zh-CN" sz="680" dirty="0"/>
              <a:t>With LCT integration, reliable FDC performance is maintained despite inverter-driven waveform distortion. Classification metrics remain above 99.5%, and the average detection latency increases modestly to 0.71 </a:t>
            </a:r>
            <a:r>
              <a:rPr lang="en-GB" altLang="zh-CN" sz="680" dirty="0" err="1"/>
              <a:t>ms</a:t>
            </a:r>
            <a:r>
              <a:rPr lang="en-GB" altLang="zh-CN" sz="680" dirty="0"/>
              <a:t>.</a:t>
            </a:r>
            <a:endParaRPr lang="en-GB" sz="680" dirty="0"/>
          </a:p>
          <a:p>
            <a:pPr algn="just">
              <a:spcBef>
                <a:spcPts val="510"/>
              </a:spcBef>
              <a:defRPr/>
            </a:pPr>
            <a:r>
              <a:rPr lang="en-GB" altLang="zh-CN" sz="680" dirty="0"/>
              <a:t>Under noisy measurements, only marginal variations are observed in accuracy, precision, recall and F1-score, confirming strong robustness against sensing uncertainty.</a:t>
            </a:r>
            <a:endParaRPr lang="en-GB" sz="680" dirty="0"/>
          </a:p>
          <a:p>
            <a:pPr algn="just">
              <a:spcBef>
                <a:spcPts val="510"/>
              </a:spcBef>
              <a:defRPr/>
            </a:pPr>
            <a:r>
              <a:rPr lang="en-GB" altLang="zh-CN" sz="680" dirty="0"/>
              <a:t>For HIF conditions, subclass confusion occurs between 50 Ω and 100 Ω faults due to similar electrical characteristics. When merged into a single HIF category, the overall HIF recognition accuracy reaches approximately 99%.</a:t>
            </a:r>
            <a:endParaRPr lang="en-GB" sz="680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E1D513CC-3BAD-15E5-0BD9-7798412ADF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494" y="6771043"/>
            <a:ext cx="1125000" cy="90000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0379B568-88DC-1B73-8055-197CDE48F2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5954" y="6771043"/>
            <a:ext cx="1101780" cy="900000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D7F7B7FC-3CB0-1BE0-2562-21909BC1A7B2}"/>
              </a:ext>
            </a:extLst>
          </p:cNvPr>
          <p:cNvSpPr txBox="1"/>
          <p:nvPr/>
        </p:nvSpPr>
        <p:spPr>
          <a:xfrm>
            <a:off x="267494" y="7654755"/>
            <a:ext cx="2158240" cy="301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680" dirty="0"/>
              <a:t>Figure 3. </a:t>
            </a:r>
            <a:r>
              <a:rPr lang="zh-CN" altLang="zh-CN" sz="680" dirty="0"/>
              <a:t>Baseline FDC performance under load-only operation.</a:t>
            </a:r>
            <a:endParaRPr lang="en-GB" sz="680" dirty="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552EC13B-B163-9495-ADBC-036B9D2980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726" y="7920472"/>
            <a:ext cx="1021888" cy="900000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21196B02-0922-484D-B264-B947A73752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0548" y="7922334"/>
            <a:ext cx="1169252" cy="900000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148B04E9-BA15-9149-E243-0A39665F8E5C}"/>
              </a:ext>
            </a:extLst>
          </p:cNvPr>
          <p:cNvSpPr txBox="1"/>
          <p:nvPr/>
        </p:nvSpPr>
        <p:spPr>
          <a:xfrm>
            <a:off x="267494" y="8798647"/>
            <a:ext cx="2136131" cy="301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680" dirty="0"/>
              <a:t>Figure 4. </a:t>
            </a:r>
            <a:r>
              <a:rPr lang="zh-CN" altLang="zh-CN" sz="680" dirty="0"/>
              <a:t>FDC performance under LCT-integrated operation.</a:t>
            </a:r>
            <a:endParaRPr lang="en-GB" sz="680" dirty="0"/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C4C35994-FD52-733D-4792-EE9AB500786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34312" y="2627784"/>
            <a:ext cx="1751568" cy="1080000"/>
          </a:xfrm>
          <a:prstGeom prst="rect">
            <a:avLst/>
          </a:prstGeom>
        </p:spPr>
      </p:pic>
      <p:sp>
        <p:nvSpPr>
          <p:cNvPr id="46" name="文本框 45">
            <a:extLst>
              <a:ext uri="{FF2B5EF4-FFF2-40B4-BE49-F238E27FC236}">
                <a16:creationId xmlns:a16="http://schemas.microsoft.com/office/drawing/2014/main" id="{FE5C56B5-EFB6-368C-F936-69833CD8EEDC}"/>
              </a:ext>
            </a:extLst>
          </p:cNvPr>
          <p:cNvSpPr txBox="1"/>
          <p:nvPr/>
        </p:nvSpPr>
        <p:spPr>
          <a:xfrm>
            <a:off x="2816760" y="3634583"/>
            <a:ext cx="2112576" cy="301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680" dirty="0"/>
              <a:t>Figure 5. </a:t>
            </a:r>
            <a:r>
              <a:rPr lang="zh-CN" altLang="zh-CN" sz="680" dirty="0"/>
              <a:t>Noise robustness under LCT-integrated operation.</a:t>
            </a:r>
            <a:endParaRPr lang="en-GB" sz="680" dirty="0"/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AF9368A2-FA56-9466-D135-7B77DF938527}"/>
              </a:ext>
            </a:extLst>
          </p:cNvPr>
          <p:cNvGrpSpPr/>
          <p:nvPr/>
        </p:nvGrpSpPr>
        <p:grpSpPr>
          <a:xfrm>
            <a:off x="2816760" y="3894083"/>
            <a:ext cx="2112576" cy="1253981"/>
            <a:chOff x="2816760" y="3778486"/>
            <a:chExt cx="2112576" cy="1253981"/>
          </a:xfrm>
        </p:grpSpPr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C70179AF-BA32-7C3A-D8CC-4A36749BEE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225048" y="3778486"/>
              <a:ext cx="1296000" cy="1080000"/>
            </a:xfrm>
            <a:prstGeom prst="rect">
              <a:avLst/>
            </a:prstGeom>
          </p:spPr>
        </p:pic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58EF758A-727B-245E-5DA7-B9F25CDF669F}"/>
                </a:ext>
              </a:extLst>
            </p:cNvPr>
            <p:cNvSpPr txBox="1"/>
            <p:nvPr/>
          </p:nvSpPr>
          <p:spPr>
            <a:xfrm>
              <a:off x="2816760" y="4835490"/>
              <a:ext cx="2112576" cy="1969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680" dirty="0"/>
                <a:t>Figure 6. </a:t>
              </a:r>
              <a:r>
                <a:rPr lang="zh-CN" altLang="zh-CN" sz="680" dirty="0"/>
                <a:t>HIF classification performance.</a:t>
              </a:r>
              <a:endParaRPr lang="en-GB" sz="680" dirty="0"/>
            </a:p>
          </p:txBody>
        </p:sp>
      </p:grpSp>
    </p:spTree>
    <p:extLst>
      <p:ext uri="{BB962C8B-B14F-4D97-AF65-F5344CB8AC3E}">
        <p14:creationId xmlns:p14="http://schemas.microsoft.com/office/powerpoint/2010/main" val="2563759704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1027</Words>
  <Application>Microsoft Office PowerPoint</Application>
  <PresentationFormat>全屏显示(16:9)</PresentationFormat>
  <Paragraphs>109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Arial</vt:lpstr>
      <vt:lpstr>Calibri</vt:lpstr>
      <vt:lpstr>Times New Roman</vt:lpstr>
      <vt:lpstr>Larissa</vt:lpstr>
      <vt:lpstr>PowerPoint 演示文稿</vt:lpstr>
      <vt:lpstr>PowerPoint 演示文稿</vt:lpstr>
    </vt:vector>
  </TitlesOfParts>
  <Company>TUM HSA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Seiler Johannes</dc:creator>
  <cp:lastModifiedBy>Yue Qi (PGR)</cp:lastModifiedBy>
  <cp:revision>243</cp:revision>
  <cp:lastPrinted>2012-02-13T11:44:21Z</cp:lastPrinted>
  <dcterms:created xsi:type="dcterms:W3CDTF">2012-01-27T19:43:58Z</dcterms:created>
  <dcterms:modified xsi:type="dcterms:W3CDTF">2026-06-17T21:56:34Z</dcterms:modified>
</cp:coreProperties>
</file>